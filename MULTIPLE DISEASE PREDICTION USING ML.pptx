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75" r:id="rId3"/>
    <p:sldId id="257" r:id="rId4"/>
    <p:sldId id="276" r:id="rId5"/>
    <p:sldId id="277" r:id="rId6"/>
    <p:sldId id="279" r:id="rId7"/>
    <p:sldId id="278" r:id="rId8"/>
    <p:sldId id="280" r:id="rId9"/>
    <p:sldId id="281" r:id="rId10"/>
    <p:sldId id="282" r:id="rId11"/>
    <p:sldId id="283" r:id="rId12"/>
    <p:sldId id="284" r:id="rId13"/>
    <p:sldId id="285" r:id="rId14"/>
    <p:sldId id="287" r:id="rId15"/>
    <p:sldId id="286" r:id="rId16"/>
    <p:sldId id="288" r:id="rId17"/>
    <p:sldId id="289" r:id="rId18"/>
    <p:sldId id="299" r:id="rId19"/>
    <p:sldId id="293" r:id="rId20"/>
    <p:sldId id="294" r:id="rId21"/>
    <p:sldId id="295" r:id="rId22"/>
    <p:sldId id="296" r:id="rId23"/>
    <p:sldId id="290" r:id="rId24"/>
    <p:sldId id="291" r:id="rId25"/>
    <p:sldId id="292" r:id="rId26"/>
    <p:sldId id="258" r:id="rId27"/>
    <p:sldId id="259" r:id="rId28"/>
    <p:sldId id="271" r:id="rId29"/>
    <p:sldId id="272" r:id="rId30"/>
    <p:sldId id="260" r:id="rId31"/>
    <p:sldId id="261" r:id="rId32"/>
    <p:sldId id="270" r:id="rId33"/>
    <p:sldId id="269" r:id="rId34"/>
    <p:sldId id="262" r:id="rId35"/>
    <p:sldId id="267" r:id="rId36"/>
    <p:sldId id="268" r:id="rId37"/>
    <p:sldId id="263" r:id="rId38"/>
    <p:sldId id="264" r:id="rId39"/>
    <p:sldId id="266" r:id="rId40"/>
    <p:sldId id="265" r:id="rId41"/>
    <p:sldId id="297" r:id="rId42"/>
    <p:sldId id="298"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404F"/>
    <a:srgbClr val="F1B1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5" autoAdjust="0"/>
    <p:restoredTop sz="94660"/>
  </p:normalViewPr>
  <p:slideViewPr>
    <p:cSldViewPr snapToGrid="0">
      <p:cViewPr varScale="1">
        <p:scale>
          <a:sx n="71" d="100"/>
          <a:sy n="71" d="100"/>
        </p:scale>
        <p:origin x="488"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698372-215E-450E-9720-B649DEC20DB1}" type="datetimeFigureOut">
              <a:rPr lang="en-IN" smtClean="0"/>
              <a:t>14-08-2024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C94AB9-6F24-4E40-B142-0ACBF955AC1A}" type="slidenum">
              <a:rPr lang="en-IN" smtClean="0"/>
              <a:t>‹#›</a:t>
            </a:fld>
            <a:endParaRPr lang="en-IN"/>
          </a:p>
        </p:txBody>
      </p:sp>
    </p:spTree>
    <p:extLst>
      <p:ext uri="{BB962C8B-B14F-4D97-AF65-F5344CB8AC3E}">
        <p14:creationId xmlns:p14="http://schemas.microsoft.com/office/powerpoint/2010/main" val="1447791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BC94AB9-6F24-4E40-B142-0ACBF955AC1A}" type="slidenum">
              <a:rPr lang="en-IN" smtClean="0"/>
              <a:t>42</a:t>
            </a:fld>
            <a:endParaRPr lang="en-IN"/>
          </a:p>
        </p:txBody>
      </p:sp>
    </p:spTree>
    <p:extLst>
      <p:ext uri="{BB962C8B-B14F-4D97-AF65-F5344CB8AC3E}">
        <p14:creationId xmlns:p14="http://schemas.microsoft.com/office/powerpoint/2010/main" val="3974059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5F48C-7CEC-8454-D14A-3C51F269E8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04C4017-96C5-2690-1769-399F0D79F6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BDB489E-09BB-FD3D-E098-56FD9B0200B2}"/>
              </a:ext>
            </a:extLst>
          </p:cNvPr>
          <p:cNvSpPr>
            <a:spLocks noGrp="1"/>
          </p:cNvSpPr>
          <p:nvPr>
            <p:ph type="dt" sz="half" idx="10"/>
          </p:nvPr>
        </p:nvSpPr>
        <p:spPr/>
        <p:txBody>
          <a:bodyPr/>
          <a:lstStyle/>
          <a:p>
            <a:fld id="{060EB720-D287-44AE-953E-F6D3D0C980B2}" type="datetimeFigureOut">
              <a:rPr lang="en-IN" smtClean="0"/>
              <a:t>14-08-2024</a:t>
            </a:fld>
            <a:endParaRPr lang="en-IN"/>
          </a:p>
        </p:txBody>
      </p:sp>
      <p:sp>
        <p:nvSpPr>
          <p:cNvPr id="5" name="Footer Placeholder 4">
            <a:extLst>
              <a:ext uri="{FF2B5EF4-FFF2-40B4-BE49-F238E27FC236}">
                <a16:creationId xmlns:a16="http://schemas.microsoft.com/office/drawing/2014/main" id="{778C3D36-2A80-F8AB-D554-8997AAC485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9E407E-2CB2-CE49-0137-B866A02D82C4}"/>
              </a:ext>
            </a:extLst>
          </p:cNvPr>
          <p:cNvSpPr>
            <a:spLocks noGrp="1"/>
          </p:cNvSpPr>
          <p:nvPr>
            <p:ph type="sldNum" sz="quarter" idx="12"/>
          </p:nvPr>
        </p:nvSpPr>
        <p:spPr/>
        <p:txBody>
          <a:bodyPr/>
          <a:lstStyle/>
          <a:p>
            <a:fld id="{22590839-FCBF-4A16-B5DE-9A04F6A97775}" type="slidenum">
              <a:rPr lang="en-IN" smtClean="0"/>
              <a:t>‹#›</a:t>
            </a:fld>
            <a:endParaRPr lang="en-IN"/>
          </a:p>
        </p:txBody>
      </p:sp>
    </p:spTree>
    <p:extLst>
      <p:ext uri="{BB962C8B-B14F-4D97-AF65-F5344CB8AC3E}">
        <p14:creationId xmlns:p14="http://schemas.microsoft.com/office/powerpoint/2010/main" val="1182435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0C14B-58C2-AAD1-4FC0-44CA4AE613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784CA8-F4FC-FFDF-2C96-F3C478EA84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70BA2D-70FE-3734-79B4-DCFCC2340EFE}"/>
              </a:ext>
            </a:extLst>
          </p:cNvPr>
          <p:cNvSpPr>
            <a:spLocks noGrp="1"/>
          </p:cNvSpPr>
          <p:nvPr>
            <p:ph type="dt" sz="half" idx="10"/>
          </p:nvPr>
        </p:nvSpPr>
        <p:spPr/>
        <p:txBody>
          <a:bodyPr/>
          <a:lstStyle/>
          <a:p>
            <a:fld id="{060EB720-D287-44AE-953E-F6D3D0C980B2}" type="datetimeFigureOut">
              <a:rPr lang="en-IN" smtClean="0"/>
              <a:t>14-08-2024</a:t>
            </a:fld>
            <a:endParaRPr lang="en-IN"/>
          </a:p>
        </p:txBody>
      </p:sp>
      <p:sp>
        <p:nvSpPr>
          <p:cNvPr id="5" name="Footer Placeholder 4">
            <a:extLst>
              <a:ext uri="{FF2B5EF4-FFF2-40B4-BE49-F238E27FC236}">
                <a16:creationId xmlns:a16="http://schemas.microsoft.com/office/drawing/2014/main" id="{B41C10BF-2510-13DB-5107-8584CEF00A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FE072B-A776-7603-7BBB-20EAD6DEF6CB}"/>
              </a:ext>
            </a:extLst>
          </p:cNvPr>
          <p:cNvSpPr>
            <a:spLocks noGrp="1"/>
          </p:cNvSpPr>
          <p:nvPr>
            <p:ph type="sldNum" sz="quarter" idx="12"/>
          </p:nvPr>
        </p:nvSpPr>
        <p:spPr/>
        <p:txBody>
          <a:bodyPr/>
          <a:lstStyle/>
          <a:p>
            <a:fld id="{22590839-FCBF-4A16-B5DE-9A04F6A97775}" type="slidenum">
              <a:rPr lang="en-IN" smtClean="0"/>
              <a:t>‹#›</a:t>
            </a:fld>
            <a:endParaRPr lang="en-IN"/>
          </a:p>
        </p:txBody>
      </p:sp>
    </p:spTree>
    <p:extLst>
      <p:ext uri="{BB962C8B-B14F-4D97-AF65-F5344CB8AC3E}">
        <p14:creationId xmlns:p14="http://schemas.microsoft.com/office/powerpoint/2010/main" val="801066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E3795-F501-CE5A-E7CD-8BC5F7BDEE92}"/>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D423FAF-0BB2-B595-DCCD-C4180AA75C14}"/>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D56C70-E536-9647-1E28-FA8AAF840A6B}"/>
              </a:ext>
            </a:extLst>
          </p:cNvPr>
          <p:cNvSpPr>
            <a:spLocks noGrp="1"/>
          </p:cNvSpPr>
          <p:nvPr>
            <p:ph type="dt" sz="half" idx="10"/>
          </p:nvPr>
        </p:nvSpPr>
        <p:spPr/>
        <p:txBody>
          <a:bodyPr/>
          <a:lstStyle/>
          <a:p>
            <a:fld id="{060EB720-D287-44AE-953E-F6D3D0C980B2}" type="datetimeFigureOut">
              <a:rPr lang="en-IN" smtClean="0"/>
              <a:t>14-08-2024</a:t>
            </a:fld>
            <a:endParaRPr lang="en-IN"/>
          </a:p>
        </p:txBody>
      </p:sp>
      <p:sp>
        <p:nvSpPr>
          <p:cNvPr id="5" name="Footer Placeholder 4">
            <a:extLst>
              <a:ext uri="{FF2B5EF4-FFF2-40B4-BE49-F238E27FC236}">
                <a16:creationId xmlns:a16="http://schemas.microsoft.com/office/drawing/2014/main" id="{933B5C18-5119-DE5A-8554-1882B8C91D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F5946F-55C0-5C8E-21F7-C6D4FDB0543B}"/>
              </a:ext>
            </a:extLst>
          </p:cNvPr>
          <p:cNvSpPr>
            <a:spLocks noGrp="1"/>
          </p:cNvSpPr>
          <p:nvPr>
            <p:ph type="sldNum" sz="quarter" idx="12"/>
          </p:nvPr>
        </p:nvSpPr>
        <p:spPr/>
        <p:txBody>
          <a:bodyPr/>
          <a:lstStyle/>
          <a:p>
            <a:fld id="{22590839-FCBF-4A16-B5DE-9A04F6A97775}" type="slidenum">
              <a:rPr lang="en-IN" smtClean="0"/>
              <a:t>‹#›</a:t>
            </a:fld>
            <a:endParaRPr lang="en-IN"/>
          </a:p>
        </p:txBody>
      </p:sp>
    </p:spTree>
    <p:extLst>
      <p:ext uri="{BB962C8B-B14F-4D97-AF65-F5344CB8AC3E}">
        <p14:creationId xmlns:p14="http://schemas.microsoft.com/office/powerpoint/2010/main" val="1539741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E5A96-1DDF-5EE7-0347-0F1D21E4D5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8719348-7707-8918-F5A7-5DD6904FBC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448B05C-D5AB-C285-E5AB-C46DD12FE4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48045A8-A36D-AAA3-2067-AC95D194781C}"/>
              </a:ext>
            </a:extLst>
          </p:cNvPr>
          <p:cNvSpPr>
            <a:spLocks noGrp="1"/>
          </p:cNvSpPr>
          <p:nvPr>
            <p:ph type="dt" sz="half" idx="10"/>
          </p:nvPr>
        </p:nvSpPr>
        <p:spPr/>
        <p:txBody>
          <a:bodyPr/>
          <a:lstStyle/>
          <a:p>
            <a:fld id="{060EB720-D287-44AE-953E-F6D3D0C980B2}" type="datetimeFigureOut">
              <a:rPr lang="en-IN" smtClean="0"/>
              <a:t>14-08-2024</a:t>
            </a:fld>
            <a:endParaRPr lang="en-IN"/>
          </a:p>
        </p:txBody>
      </p:sp>
      <p:sp>
        <p:nvSpPr>
          <p:cNvPr id="6" name="Footer Placeholder 5">
            <a:extLst>
              <a:ext uri="{FF2B5EF4-FFF2-40B4-BE49-F238E27FC236}">
                <a16:creationId xmlns:a16="http://schemas.microsoft.com/office/drawing/2014/main" id="{4923ABDD-729B-5E51-0B0D-37EBD62541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487760-C67D-919A-ABF0-3CA74F8DA393}"/>
              </a:ext>
            </a:extLst>
          </p:cNvPr>
          <p:cNvSpPr>
            <a:spLocks noGrp="1"/>
          </p:cNvSpPr>
          <p:nvPr>
            <p:ph type="sldNum" sz="quarter" idx="12"/>
          </p:nvPr>
        </p:nvSpPr>
        <p:spPr/>
        <p:txBody>
          <a:bodyPr/>
          <a:lstStyle/>
          <a:p>
            <a:fld id="{22590839-FCBF-4A16-B5DE-9A04F6A97775}" type="slidenum">
              <a:rPr lang="en-IN" smtClean="0"/>
              <a:t>‹#›</a:t>
            </a:fld>
            <a:endParaRPr lang="en-IN"/>
          </a:p>
        </p:txBody>
      </p:sp>
    </p:spTree>
    <p:extLst>
      <p:ext uri="{BB962C8B-B14F-4D97-AF65-F5344CB8AC3E}">
        <p14:creationId xmlns:p14="http://schemas.microsoft.com/office/powerpoint/2010/main" val="3727200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FACEB-B162-73EC-8EB5-8C3B8D14443A}"/>
              </a:ext>
            </a:extLst>
          </p:cNvPr>
          <p:cNvSpPr>
            <a:spLocks noGrp="1"/>
          </p:cNvSpPr>
          <p:nvPr>
            <p:ph type="title"/>
          </p:nvPr>
        </p:nvSpPr>
        <p:spPr>
          <a:xfrm>
            <a:off x="839788" y="365127"/>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338771-52B7-5335-1D0A-6BCC5B92EFE8}"/>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65C950-EAA1-BED1-8F62-F0DC303EB650}"/>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E41B082-CAFC-D680-6D3F-3229E1E243D9}"/>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9A5B3E-58F8-15D6-8BD2-7D635E89A915}"/>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97F4893-6998-F335-6FAF-F7FE02862705}"/>
              </a:ext>
            </a:extLst>
          </p:cNvPr>
          <p:cNvSpPr>
            <a:spLocks noGrp="1"/>
          </p:cNvSpPr>
          <p:nvPr>
            <p:ph type="dt" sz="half" idx="10"/>
          </p:nvPr>
        </p:nvSpPr>
        <p:spPr/>
        <p:txBody>
          <a:bodyPr/>
          <a:lstStyle/>
          <a:p>
            <a:fld id="{060EB720-D287-44AE-953E-F6D3D0C980B2}" type="datetimeFigureOut">
              <a:rPr lang="en-IN" smtClean="0"/>
              <a:t>14-08-2024</a:t>
            </a:fld>
            <a:endParaRPr lang="en-IN"/>
          </a:p>
        </p:txBody>
      </p:sp>
      <p:sp>
        <p:nvSpPr>
          <p:cNvPr id="8" name="Footer Placeholder 7">
            <a:extLst>
              <a:ext uri="{FF2B5EF4-FFF2-40B4-BE49-F238E27FC236}">
                <a16:creationId xmlns:a16="http://schemas.microsoft.com/office/drawing/2014/main" id="{A552697E-0A94-72E1-B941-6BDA2F560A1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696823-10A6-FBA8-454C-D5BDC4584058}"/>
              </a:ext>
            </a:extLst>
          </p:cNvPr>
          <p:cNvSpPr>
            <a:spLocks noGrp="1"/>
          </p:cNvSpPr>
          <p:nvPr>
            <p:ph type="sldNum" sz="quarter" idx="12"/>
          </p:nvPr>
        </p:nvSpPr>
        <p:spPr/>
        <p:txBody>
          <a:bodyPr/>
          <a:lstStyle/>
          <a:p>
            <a:fld id="{22590839-FCBF-4A16-B5DE-9A04F6A97775}" type="slidenum">
              <a:rPr lang="en-IN" smtClean="0"/>
              <a:t>‹#›</a:t>
            </a:fld>
            <a:endParaRPr lang="en-IN"/>
          </a:p>
        </p:txBody>
      </p:sp>
    </p:spTree>
    <p:extLst>
      <p:ext uri="{BB962C8B-B14F-4D97-AF65-F5344CB8AC3E}">
        <p14:creationId xmlns:p14="http://schemas.microsoft.com/office/powerpoint/2010/main" val="2677774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B13EC-6DC5-B9BA-2800-217F07FA4B7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F38080C-2796-871A-2C38-3BF2F647B17F}"/>
              </a:ext>
            </a:extLst>
          </p:cNvPr>
          <p:cNvSpPr>
            <a:spLocks noGrp="1"/>
          </p:cNvSpPr>
          <p:nvPr>
            <p:ph type="dt" sz="half" idx="10"/>
          </p:nvPr>
        </p:nvSpPr>
        <p:spPr/>
        <p:txBody>
          <a:bodyPr/>
          <a:lstStyle/>
          <a:p>
            <a:fld id="{060EB720-D287-44AE-953E-F6D3D0C980B2}" type="datetimeFigureOut">
              <a:rPr lang="en-IN" smtClean="0"/>
              <a:t>14-08-2024</a:t>
            </a:fld>
            <a:endParaRPr lang="en-IN"/>
          </a:p>
        </p:txBody>
      </p:sp>
      <p:sp>
        <p:nvSpPr>
          <p:cNvPr id="4" name="Footer Placeholder 3">
            <a:extLst>
              <a:ext uri="{FF2B5EF4-FFF2-40B4-BE49-F238E27FC236}">
                <a16:creationId xmlns:a16="http://schemas.microsoft.com/office/drawing/2014/main" id="{2018134F-F5D5-0C97-A403-0EF89693E1C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6573EC4-597B-6D23-27F2-AA810C40911D}"/>
              </a:ext>
            </a:extLst>
          </p:cNvPr>
          <p:cNvSpPr>
            <a:spLocks noGrp="1"/>
          </p:cNvSpPr>
          <p:nvPr>
            <p:ph type="sldNum" sz="quarter" idx="12"/>
          </p:nvPr>
        </p:nvSpPr>
        <p:spPr/>
        <p:txBody>
          <a:bodyPr/>
          <a:lstStyle/>
          <a:p>
            <a:fld id="{22590839-FCBF-4A16-B5DE-9A04F6A97775}" type="slidenum">
              <a:rPr lang="en-IN" smtClean="0"/>
              <a:t>‹#›</a:t>
            </a:fld>
            <a:endParaRPr lang="en-IN"/>
          </a:p>
        </p:txBody>
      </p:sp>
    </p:spTree>
    <p:extLst>
      <p:ext uri="{BB962C8B-B14F-4D97-AF65-F5344CB8AC3E}">
        <p14:creationId xmlns:p14="http://schemas.microsoft.com/office/powerpoint/2010/main" val="3293027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009EEE-337A-42DC-3CD5-4A8366669103}"/>
              </a:ext>
            </a:extLst>
          </p:cNvPr>
          <p:cNvSpPr>
            <a:spLocks noGrp="1"/>
          </p:cNvSpPr>
          <p:nvPr>
            <p:ph type="dt" sz="half" idx="10"/>
          </p:nvPr>
        </p:nvSpPr>
        <p:spPr/>
        <p:txBody>
          <a:bodyPr/>
          <a:lstStyle/>
          <a:p>
            <a:fld id="{060EB720-D287-44AE-953E-F6D3D0C980B2}" type="datetimeFigureOut">
              <a:rPr lang="en-IN" smtClean="0"/>
              <a:t>14-08-2024</a:t>
            </a:fld>
            <a:endParaRPr lang="en-IN"/>
          </a:p>
        </p:txBody>
      </p:sp>
      <p:sp>
        <p:nvSpPr>
          <p:cNvPr id="3" name="Footer Placeholder 2">
            <a:extLst>
              <a:ext uri="{FF2B5EF4-FFF2-40B4-BE49-F238E27FC236}">
                <a16:creationId xmlns:a16="http://schemas.microsoft.com/office/drawing/2014/main" id="{BD5909AC-1A8A-72E2-F90B-7E9972165DE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F794DE2-7727-845C-FA91-2A5ABF0681DA}"/>
              </a:ext>
            </a:extLst>
          </p:cNvPr>
          <p:cNvSpPr>
            <a:spLocks noGrp="1"/>
          </p:cNvSpPr>
          <p:nvPr>
            <p:ph type="sldNum" sz="quarter" idx="12"/>
          </p:nvPr>
        </p:nvSpPr>
        <p:spPr/>
        <p:txBody>
          <a:bodyPr/>
          <a:lstStyle/>
          <a:p>
            <a:fld id="{22590839-FCBF-4A16-B5DE-9A04F6A97775}" type="slidenum">
              <a:rPr lang="en-IN" smtClean="0"/>
              <a:t>‹#›</a:t>
            </a:fld>
            <a:endParaRPr lang="en-IN"/>
          </a:p>
        </p:txBody>
      </p:sp>
    </p:spTree>
    <p:extLst>
      <p:ext uri="{BB962C8B-B14F-4D97-AF65-F5344CB8AC3E}">
        <p14:creationId xmlns:p14="http://schemas.microsoft.com/office/powerpoint/2010/main" val="2841890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A4E46-8EE0-5778-672D-5AA5BE8A5B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EC14579-9995-D87F-C716-0CAC22F963D8}"/>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5CB8504-836F-3502-4782-3DCA8DA557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EC3B56-609C-4DAD-43E4-39637D4D7318}"/>
              </a:ext>
            </a:extLst>
          </p:cNvPr>
          <p:cNvSpPr>
            <a:spLocks noGrp="1"/>
          </p:cNvSpPr>
          <p:nvPr>
            <p:ph type="dt" sz="half" idx="10"/>
          </p:nvPr>
        </p:nvSpPr>
        <p:spPr/>
        <p:txBody>
          <a:bodyPr/>
          <a:lstStyle/>
          <a:p>
            <a:fld id="{060EB720-D287-44AE-953E-F6D3D0C980B2}" type="datetimeFigureOut">
              <a:rPr lang="en-IN" smtClean="0"/>
              <a:t>14-08-2024</a:t>
            </a:fld>
            <a:endParaRPr lang="en-IN"/>
          </a:p>
        </p:txBody>
      </p:sp>
      <p:sp>
        <p:nvSpPr>
          <p:cNvPr id="6" name="Footer Placeholder 5">
            <a:extLst>
              <a:ext uri="{FF2B5EF4-FFF2-40B4-BE49-F238E27FC236}">
                <a16:creationId xmlns:a16="http://schemas.microsoft.com/office/drawing/2014/main" id="{C9608831-FDE0-5B70-524B-C8721B3C5B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44129B-09E1-111E-E38B-294EC733F436}"/>
              </a:ext>
            </a:extLst>
          </p:cNvPr>
          <p:cNvSpPr>
            <a:spLocks noGrp="1"/>
          </p:cNvSpPr>
          <p:nvPr>
            <p:ph type="sldNum" sz="quarter" idx="12"/>
          </p:nvPr>
        </p:nvSpPr>
        <p:spPr/>
        <p:txBody>
          <a:bodyPr/>
          <a:lstStyle/>
          <a:p>
            <a:fld id="{22590839-FCBF-4A16-B5DE-9A04F6A97775}" type="slidenum">
              <a:rPr lang="en-IN" smtClean="0"/>
              <a:t>‹#›</a:t>
            </a:fld>
            <a:endParaRPr lang="en-IN"/>
          </a:p>
        </p:txBody>
      </p:sp>
    </p:spTree>
    <p:extLst>
      <p:ext uri="{BB962C8B-B14F-4D97-AF65-F5344CB8AC3E}">
        <p14:creationId xmlns:p14="http://schemas.microsoft.com/office/powerpoint/2010/main" val="1948351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C00E8-6450-C6C9-9430-BD12CF918F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0B79CA3-3A29-E09D-7433-8D082BB2662A}"/>
              </a:ext>
            </a:extLst>
          </p:cNvPr>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02C1D6-A9B8-2236-FA03-1D71DA4F32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08B4E4-69FE-80D5-52BC-33A33AD8F6EC}"/>
              </a:ext>
            </a:extLst>
          </p:cNvPr>
          <p:cNvSpPr>
            <a:spLocks noGrp="1"/>
          </p:cNvSpPr>
          <p:nvPr>
            <p:ph type="dt" sz="half" idx="10"/>
          </p:nvPr>
        </p:nvSpPr>
        <p:spPr/>
        <p:txBody>
          <a:bodyPr/>
          <a:lstStyle/>
          <a:p>
            <a:fld id="{060EB720-D287-44AE-953E-F6D3D0C980B2}" type="datetimeFigureOut">
              <a:rPr lang="en-IN" smtClean="0"/>
              <a:t>14-08-2024</a:t>
            </a:fld>
            <a:endParaRPr lang="en-IN"/>
          </a:p>
        </p:txBody>
      </p:sp>
      <p:sp>
        <p:nvSpPr>
          <p:cNvPr id="6" name="Footer Placeholder 5">
            <a:extLst>
              <a:ext uri="{FF2B5EF4-FFF2-40B4-BE49-F238E27FC236}">
                <a16:creationId xmlns:a16="http://schemas.microsoft.com/office/drawing/2014/main" id="{7283DC7C-8C63-0AD7-F5D2-0C5E7A3429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1224F5-2BBC-3FA2-970F-E4750BD6B62D}"/>
              </a:ext>
            </a:extLst>
          </p:cNvPr>
          <p:cNvSpPr>
            <a:spLocks noGrp="1"/>
          </p:cNvSpPr>
          <p:nvPr>
            <p:ph type="sldNum" sz="quarter" idx="12"/>
          </p:nvPr>
        </p:nvSpPr>
        <p:spPr/>
        <p:txBody>
          <a:bodyPr/>
          <a:lstStyle/>
          <a:p>
            <a:fld id="{22590839-FCBF-4A16-B5DE-9A04F6A97775}" type="slidenum">
              <a:rPr lang="en-IN" smtClean="0"/>
              <a:t>‹#›</a:t>
            </a:fld>
            <a:endParaRPr lang="en-IN"/>
          </a:p>
        </p:txBody>
      </p:sp>
    </p:spTree>
    <p:extLst>
      <p:ext uri="{BB962C8B-B14F-4D97-AF65-F5344CB8AC3E}">
        <p14:creationId xmlns:p14="http://schemas.microsoft.com/office/powerpoint/2010/main" val="407056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F434C-7181-A4CB-C082-0A23DA3C6FA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86013B-95F6-93A7-F266-7784E4CC28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624A66-08A4-2FC9-C4FE-BFE2700F5D99}"/>
              </a:ext>
            </a:extLst>
          </p:cNvPr>
          <p:cNvSpPr>
            <a:spLocks noGrp="1"/>
          </p:cNvSpPr>
          <p:nvPr>
            <p:ph type="dt" sz="half" idx="10"/>
          </p:nvPr>
        </p:nvSpPr>
        <p:spPr/>
        <p:txBody>
          <a:bodyPr/>
          <a:lstStyle/>
          <a:p>
            <a:fld id="{060EB720-D287-44AE-953E-F6D3D0C980B2}" type="datetimeFigureOut">
              <a:rPr lang="en-IN" smtClean="0"/>
              <a:t>14-08-2024</a:t>
            </a:fld>
            <a:endParaRPr lang="en-IN"/>
          </a:p>
        </p:txBody>
      </p:sp>
      <p:sp>
        <p:nvSpPr>
          <p:cNvPr id="5" name="Footer Placeholder 4">
            <a:extLst>
              <a:ext uri="{FF2B5EF4-FFF2-40B4-BE49-F238E27FC236}">
                <a16:creationId xmlns:a16="http://schemas.microsoft.com/office/drawing/2014/main" id="{75C720BB-A2EE-00B0-238C-3788A379C2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1A1979-70E7-012C-FD7C-FFA6A85D4AA9}"/>
              </a:ext>
            </a:extLst>
          </p:cNvPr>
          <p:cNvSpPr>
            <a:spLocks noGrp="1"/>
          </p:cNvSpPr>
          <p:nvPr>
            <p:ph type="sldNum" sz="quarter" idx="12"/>
          </p:nvPr>
        </p:nvSpPr>
        <p:spPr/>
        <p:txBody>
          <a:bodyPr/>
          <a:lstStyle/>
          <a:p>
            <a:fld id="{22590839-FCBF-4A16-B5DE-9A04F6A97775}" type="slidenum">
              <a:rPr lang="en-IN" smtClean="0"/>
              <a:t>‹#›</a:t>
            </a:fld>
            <a:endParaRPr lang="en-IN"/>
          </a:p>
        </p:txBody>
      </p:sp>
    </p:spTree>
    <p:extLst>
      <p:ext uri="{BB962C8B-B14F-4D97-AF65-F5344CB8AC3E}">
        <p14:creationId xmlns:p14="http://schemas.microsoft.com/office/powerpoint/2010/main" val="2932398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2F9C2A-4942-A184-C5D7-5392B3D5E800}"/>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F05FF2-70BC-3FD5-D293-B240A36D8ACB}"/>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574BA7-51F8-7E9B-5CAE-DF35AA20E9D8}"/>
              </a:ext>
            </a:extLst>
          </p:cNvPr>
          <p:cNvSpPr>
            <a:spLocks noGrp="1"/>
          </p:cNvSpPr>
          <p:nvPr>
            <p:ph type="dt" sz="half" idx="10"/>
          </p:nvPr>
        </p:nvSpPr>
        <p:spPr/>
        <p:txBody>
          <a:bodyPr/>
          <a:lstStyle/>
          <a:p>
            <a:fld id="{060EB720-D287-44AE-953E-F6D3D0C980B2}" type="datetimeFigureOut">
              <a:rPr lang="en-IN" smtClean="0"/>
              <a:t>14-08-2024</a:t>
            </a:fld>
            <a:endParaRPr lang="en-IN"/>
          </a:p>
        </p:txBody>
      </p:sp>
      <p:sp>
        <p:nvSpPr>
          <p:cNvPr id="5" name="Footer Placeholder 4">
            <a:extLst>
              <a:ext uri="{FF2B5EF4-FFF2-40B4-BE49-F238E27FC236}">
                <a16:creationId xmlns:a16="http://schemas.microsoft.com/office/drawing/2014/main" id="{5D928C25-5EC2-7F91-DB1D-D1F27490DD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D8437A-D365-F240-984F-EBE5D2381EA1}"/>
              </a:ext>
            </a:extLst>
          </p:cNvPr>
          <p:cNvSpPr>
            <a:spLocks noGrp="1"/>
          </p:cNvSpPr>
          <p:nvPr>
            <p:ph type="sldNum" sz="quarter" idx="12"/>
          </p:nvPr>
        </p:nvSpPr>
        <p:spPr/>
        <p:txBody>
          <a:bodyPr/>
          <a:lstStyle/>
          <a:p>
            <a:fld id="{22590839-FCBF-4A16-B5DE-9A04F6A97775}" type="slidenum">
              <a:rPr lang="en-IN" smtClean="0"/>
              <a:t>‹#›</a:t>
            </a:fld>
            <a:endParaRPr lang="en-IN"/>
          </a:p>
        </p:txBody>
      </p:sp>
    </p:spTree>
    <p:extLst>
      <p:ext uri="{BB962C8B-B14F-4D97-AF65-F5344CB8AC3E}">
        <p14:creationId xmlns:p14="http://schemas.microsoft.com/office/powerpoint/2010/main" val="2491163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75">
          <a:fgClr>
            <a:schemeClr val="bg2">
              <a:tint val="95000"/>
              <a:satMod val="170000"/>
            </a:schemeClr>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6F981A-CC65-6AA3-7183-75A22A72D22E}"/>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6FAD92-E4A2-8D6B-78A5-AEEE982A6C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7A5C82-BAD4-A8EF-9CBF-B8FCB3635B41}"/>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0EB720-D287-44AE-953E-F6D3D0C980B2}" type="datetimeFigureOut">
              <a:rPr lang="en-IN" smtClean="0"/>
              <a:t>14-08-2024</a:t>
            </a:fld>
            <a:endParaRPr lang="en-IN"/>
          </a:p>
        </p:txBody>
      </p:sp>
      <p:sp>
        <p:nvSpPr>
          <p:cNvPr id="5" name="Footer Placeholder 4">
            <a:extLst>
              <a:ext uri="{FF2B5EF4-FFF2-40B4-BE49-F238E27FC236}">
                <a16:creationId xmlns:a16="http://schemas.microsoft.com/office/drawing/2014/main" id="{DC0BADF9-85E3-607C-84EB-BEF4AB63AE63}"/>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FD25622-5E4E-B835-B81E-2DEC967E98F2}"/>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590839-FCBF-4A16-B5DE-9A04F6A97775}" type="slidenum">
              <a:rPr lang="en-IN" smtClean="0"/>
              <a:t>‹#›</a:t>
            </a:fld>
            <a:endParaRPr lang="en-IN"/>
          </a:p>
        </p:txBody>
      </p:sp>
    </p:spTree>
    <p:extLst>
      <p:ext uri="{BB962C8B-B14F-4D97-AF65-F5344CB8AC3E}">
        <p14:creationId xmlns:p14="http://schemas.microsoft.com/office/powerpoint/2010/main" val="3952164688"/>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3526695-E78E-BF88-2CE5-06D89B0321AE}"/>
              </a:ext>
            </a:extLst>
          </p:cNvPr>
          <p:cNvSpPr>
            <a:spLocks noGrp="1"/>
          </p:cNvSpPr>
          <p:nvPr>
            <p:ph type="subTitle" idx="1"/>
          </p:nvPr>
        </p:nvSpPr>
        <p:spPr>
          <a:xfrm>
            <a:off x="1524000" y="3602038"/>
            <a:ext cx="9144000" cy="2087562"/>
          </a:xfrm>
        </p:spPr>
        <p:txBody>
          <a:bodyPr>
            <a:normAutofit fontScale="92500" lnSpcReduction="10000"/>
          </a:bodyPr>
          <a:lstStyle/>
          <a:p>
            <a:r>
              <a:rPr lang="en-US" dirty="0"/>
              <a:t>A project by</a:t>
            </a:r>
          </a:p>
          <a:p>
            <a:r>
              <a:rPr lang="en-US" dirty="0"/>
              <a:t>Name- </a:t>
            </a:r>
            <a:r>
              <a:rPr lang="en-US" b="1" dirty="0"/>
              <a:t>NILESH GUPT</a:t>
            </a:r>
          </a:p>
          <a:p>
            <a:r>
              <a:rPr lang="en-US" b="1" dirty="0"/>
              <a:t> </a:t>
            </a:r>
            <a:r>
              <a:rPr lang="en-US" dirty="0"/>
              <a:t>Roll- </a:t>
            </a:r>
            <a:r>
              <a:rPr lang="en-US" b="1" dirty="0"/>
              <a:t>2116117 </a:t>
            </a:r>
            <a:r>
              <a:rPr lang="en-US" dirty="0"/>
              <a:t>No.- </a:t>
            </a:r>
            <a:r>
              <a:rPr lang="en-US" b="1" dirty="0"/>
              <a:t>2116657 </a:t>
            </a:r>
          </a:p>
          <a:p>
            <a:r>
              <a:rPr lang="en-US" dirty="0"/>
              <a:t>Registration No.- </a:t>
            </a:r>
            <a:r>
              <a:rPr lang="en-US" b="1" dirty="0"/>
              <a:t>018667 </a:t>
            </a:r>
            <a:r>
              <a:rPr lang="en-US" dirty="0"/>
              <a:t>Session- </a:t>
            </a:r>
            <a:r>
              <a:rPr lang="en-US" b="1" dirty="0"/>
              <a:t>2021-22</a:t>
            </a:r>
          </a:p>
          <a:p>
            <a:r>
              <a:rPr lang="en-US" dirty="0"/>
              <a:t>Course Code- </a:t>
            </a:r>
            <a:r>
              <a:rPr lang="en-US" b="1" dirty="0"/>
              <a:t>COMSC-H-DSE</a:t>
            </a:r>
            <a:endParaRPr lang="en-US" dirty="0"/>
          </a:p>
        </p:txBody>
      </p:sp>
      <p:sp>
        <p:nvSpPr>
          <p:cNvPr id="44" name="Title 43">
            <a:extLst>
              <a:ext uri="{FF2B5EF4-FFF2-40B4-BE49-F238E27FC236}">
                <a16:creationId xmlns:a16="http://schemas.microsoft.com/office/drawing/2014/main" id="{AA50AF08-DFEF-BBFF-A8CC-58D276074F6F}"/>
              </a:ext>
            </a:extLst>
          </p:cNvPr>
          <p:cNvSpPr>
            <a:spLocks noGrp="1"/>
          </p:cNvSpPr>
          <p:nvPr>
            <p:ph type="ctrTitle"/>
          </p:nvPr>
        </p:nvSpPr>
        <p:spPr>
          <a:xfrm>
            <a:off x="1524000" y="93643"/>
            <a:ext cx="9144000" cy="3416320"/>
          </a:xfrm>
          <a:prstGeom prst="rect">
            <a:avLst/>
          </a:prstGeom>
          <a:noFill/>
        </p:spPr>
        <p:txBody>
          <a:bodyPr wrap="square" lIns="91440" tIns="45720" rIns="91440" bIns="45720">
            <a:spAutoFit/>
          </a:bodyPr>
          <a:lstStyle/>
          <a:p>
            <a:pPr algn="ctr"/>
            <a:r>
              <a:rPr lang="en-US" sz="80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MULTIPLE DISEASE PREDICTION USING ML</a:t>
            </a:r>
          </a:p>
        </p:txBody>
      </p:sp>
    </p:spTree>
    <p:extLst>
      <p:ext uri="{BB962C8B-B14F-4D97-AF65-F5344CB8AC3E}">
        <p14:creationId xmlns:p14="http://schemas.microsoft.com/office/powerpoint/2010/main" val="1352510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533F8-ABE0-C935-B445-8D52B4860C85}"/>
              </a:ext>
            </a:extLst>
          </p:cNvPr>
          <p:cNvSpPr>
            <a:spLocks noGrp="1"/>
          </p:cNvSpPr>
          <p:nvPr>
            <p:ph type="title"/>
          </p:nvPr>
        </p:nvSpPr>
        <p:spPr/>
        <p:txBody>
          <a:bodyPr/>
          <a:lstStyle/>
          <a:p>
            <a:r>
              <a:rPr lang="en-US" b="1" dirty="0"/>
              <a:t>INTRODUCTION</a:t>
            </a:r>
            <a:endParaRPr lang="en-IN" b="1" dirty="0"/>
          </a:p>
        </p:txBody>
      </p:sp>
      <p:sp>
        <p:nvSpPr>
          <p:cNvPr id="3" name="Content Placeholder 2">
            <a:extLst>
              <a:ext uri="{FF2B5EF4-FFF2-40B4-BE49-F238E27FC236}">
                <a16:creationId xmlns:a16="http://schemas.microsoft.com/office/drawing/2014/main" id="{2686FB9B-041E-B574-8E7D-378824E6F97F}"/>
              </a:ext>
            </a:extLst>
          </p:cNvPr>
          <p:cNvSpPr>
            <a:spLocks noGrp="1"/>
          </p:cNvSpPr>
          <p:nvPr>
            <p:ph idx="1"/>
          </p:nvPr>
        </p:nvSpPr>
        <p:spPr>
          <a:xfrm>
            <a:off x="838200" y="1825624"/>
            <a:ext cx="10515600" cy="5032375"/>
          </a:xfrm>
        </p:spPr>
        <p:txBody>
          <a:bodyPr>
            <a:normAutofit fontScale="70000" lnSpcReduction="20000"/>
          </a:bodyPr>
          <a:lstStyle/>
          <a:p>
            <a:r>
              <a:rPr lang="en-US" dirty="0"/>
              <a:t>A machine learning-based multiple disease prediction system can be incredibly valuable for people who lack access to good medical professionals for several reasons:</a:t>
            </a:r>
          </a:p>
          <a:p>
            <a:pPr marL="0" indent="0">
              <a:buNone/>
            </a:pPr>
            <a:r>
              <a:rPr lang="en-US" dirty="0"/>
              <a:t>1. Early Detection: These systems can help in identifying potential health issues before symptoms become severe. Early detection of diseases like heart disease, diabetes, Parkinson’s, and breast cancer can lead to earlier intervention, which can significantly improve outcomes.</a:t>
            </a:r>
          </a:p>
          <a:p>
            <a:pPr marL="0" indent="0">
              <a:buNone/>
            </a:pPr>
            <a:r>
              <a:rPr lang="en-US" dirty="0"/>
              <a:t>2. Accessibility: For individuals in remote or underserved areas, machine learning tools can provide preliminary diagnostic support without the need for immediate access to specialized healthcare providers. This can bridge gaps where traditional healthcare infrastructure is lacking.</a:t>
            </a:r>
          </a:p>
          <a:p>
            <a:pPr marL="0" indent="0">
              <a:buNone/>
            </a:pPr>
            <a:r>
              <a:rPr lang="en-US" dirty="0"/>
              <a:t>3. Personalized Health Insights: Machine learning models can analyze individual health data and provide personalized risk assessments, guiding users on lifestyle changes and preventive measures specific to their health profile.</a:t>
            </a:r>
          </a:p>
          <a:p>
            <a:pPr marL="0" indent="0">
              <a:buNone/>
            </a:pPr>
            <a:r>
              <a:rPr lang="en-US" dirty="0"/>
              <a:t>4. Scalability: Once developed, these systems can be deployed widely at relatively low cost, making advanced predictive tools available to a large number of people.</a:t>
            </a:r>
          </a:p>
          <a:p>
            <a:pPr marL="0" indent="0">
              <a:buNone/>
            </a:pPr>
            <a:r>
              <a:rPr lang="en-US" dirty="0"/>
              <a:t>5</a:t>
            </a:r>
            <a:r>
              <a:rPr lang="en-US"/>
              <a:t>. </a:t>
            </a:r>
            <a:r>
              <a:rPr lang="en-US" dirty="0"/>
              <a:t>Continuous Learning: As the model is exposed to more data, it can improve its accuracy and adapt to new patterns, which can be particularly useful in evolving fields like medical research. By leveraging these benefits, a multiple disease prediction system can serve as a supportive tool in managing and potentially preventing serious health conditions, especially in areas where traditional medical resources are scarce.</a:t>
            </a:r>
            <a:endParaRPr lang="en-IN" dirty="0"/>
          </a:p>
        </p:txBody>
      </p:sp>
    </p:spTree>
    <p:extLst>
      <p:ext uri="{BB962C8B-B14F-4D97-AF65-F5344CB8AC3E}">
        <p14:creationId xmlns:p14="http://schemas.microsoft.com/office/powerpoint/2010/main" val="2687561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F05C1-15DA-B2FE-0AC5-53B7C092992B}"/>
              </a:ext>
            </a:extLst>
          </p:cNvPr>
          <p:cNvSpPr>
            <a:spLocks noGrp="1"/>
          </p:cNvSpPr>
          <p:nvPr>
            <p:ph type="title"/>
          </p:nvPr>
        </p:nvSpPr>
        <p:spPr/>
        <p:txBody>
          <a:bodyPr/>
          <a:lstStyle/>
          <a:p>
            <a:r>
              <a:rPr lang="en-US" b="1" dirty="0"/>
              <a:t>AIM</a:t>
            </a:r>
            <a:endParaRPr lang="en-IN" b="1" dirty="0"/>
          </a:p>
        </p:txBody>
      </p:sp>
      <p:sp>
        <p:nvSpPr>
          <p:cNvPr id="3" name="Content Placeholder 2">
            <a:extLst>
              <a:ext uri="{FF2B5EF4-FFF2-40B4-BE49-F238E27FC236}">
                <a16:creationId xmlns:a16="http://schemas.microsoft.com/office/drawing/2014/main" id="{790AF72B-285E-121E-EB3A-22BD20734586}"/>
              </a:ext>
            </a:extLst>
          </p:cNvPr>
          <p:cNvSpPr>
            <a:spLocks noGrp="1"/>
          </p:cNvSpPr>
          <p:nvPr>
            <p:ph idx="1"/>
          </p:nvPr>
        </p:nvSpPr>
        <p:spPr>
          <a:xfrm>
            <a:off x="838200" y="1825624"/>
            <a:ext cx="10515600" cy="5032375"/>
          </a:xfrm>
        </p:spPr>
        <p:txBody>
          <a:bodyPr>
            <a:normAutofit fontScale="70000" lnSpcReduction="20000"/>
          </a:bodyPr>
          <a:lstStyle/>
          <a:p>
            <a:r>
              <a:rPr lang="en-US" dirty="0"/>
              <a:t>The main objective of this project is to make a predictive system using the data available from that will be used to identify and diagnose diseases like breast  cancer, diabetes, heart related disease and Parkinson’s disease. The project will focus on developing an interactive and user-friendly platform with React, ensuring a clean, intuitive, and responsive user interface. This interface will include forms for users to input health data like age, weight, medical history, and other relevant metrics.</a:t>
            </a:r>
          </a:p>
          <a:p>
            <a:r>
              <a:rPr lang="en-US" dirty="0"/>
              <a:t>Appropriate machine learning algorithms will be selected for each disease, such as logistic regression, naive bayes, decision tree classifier and random forest classifier for breast cancer, logistic regression, naive bayes and SVM for diabetes detection, logistic regression and naive bayes for heart disease, and logistic regression and SVM for Parkinson’s disease. These models will be trained using large datasets from medical research databases and validated for accuracy. The trained models will then be evaluated based on their accuracy scores using training dataset and testing dataset. The model with highest accuracy score for that disease will be used to build the predictive system.</a:t>
            </a:r>
          </a:p>
          <a:p>
            <a:r>
              <a:rPr lang="en-US" dirty="0"/>
              <a:t>The integration and testing phase will connect the React frontend to the backend API, ensuring seamless data exchange between the user interface and the machine learning models. Thorough user testing will be conducted to ensure the system’s usability, accuracy, and reliability, with feedback gathered to refine and improve the user experience. Performance optimization will be carried out To ensure the application can handle a large number of users and data inputs efficiently.</a:t>
            </a:r>
            <a:endParaRPr lang="en-IN" dirty="0"/>
          </a:p>
        </p:txBody>
      </p:sp>
    </p:spTree>
    <p:extLst>
      <p:ext uri="{BB962C8B-B14F-4D97-AF65-F5344CB8AC3E}">
        <p14:creationId xmlns:p14="http://schemas.microsoft.com/office/powerpoint/2010/main" val="2578081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DD5CF-6BFE-7136-FA47-BE1D0D8F11CA}"/>
              </a:ext>
            </a:extLst>
          </p:cNvPr>
          <p:cNvSpPr>
            <a:spLocks noGrp="1"/>
          </p:cNvSpPr>
          <p:nvPr>
            <p:ph type="title"/>
          </p:nvPr>
        </p:nvSpPr>
        <p:spPr/>
        <p:txBody>
          <a:bodyPr/>
          <a:lstStyle/>
          <a:p>
            <a:r>
              <a:rPr lang="en-US" b="1" dirty="0"/>
              <a:t>AIM</a:t>
            </a:r>
            <a:endParaRPr lang="en-IN" b="1" dirty="0"/>
          </a:p>
        </p:txBody>
      </p:sp>
      <p:sp>
        <p:nvSpPr>
          <p:cNvPr id="3" name="Content Placeholder 2">
            <a:extLst>
              <a:ext uri="{FF2B5EF4-FFF2-40B4-BE49-F238E27FC236}">
                <a16:creationId xmlns:a16="http://schemas.microsoft.com/office/drawing/2014/main" id="{1C4C82E5-0CF7-FD71-66B5-3D7CE1F82A2F}"/>
              </a:ext>
            </a:extLst>
          </p:cNvPr>
          <p:cNvSpPr>
            <a:spLocks noGrp="1"/>
          </p:cNvSpPr>
          <p:nvPr>
            <p:ph idx="1"/>
          </p:nvPr>
        </p:nvSpPr>
        <p:spPr/>
        <p:txBody>
          <a:bodyPr>
            <a:normAutofit/>
          </a:bodyPr>
          <a:lstStyle/>
          <a:p>
            <a:r>
              <a:rPr lang="en-US" dirty="0"/>
              <a:t>The React-based platform will be designed to be user-friendly and highly interactive, ensuring that users can easily navigate and input their health data. The system will utilize advanced machine learning algorithms to analyze this data and provide accurate predictions. By identifying potential health issues early, users can take timely action, seeking medical advice and interventions that can significantly improve their health outcomes.</a:t>
            </a:r>
            <a:endParaRPr lang="en-IN" dirty="0"/>
          </a:p>
        </p:txBody>
      </p:sp>
    </p:spTree>
    <p:extLst>
      <p:ext uri="{BB962C8B-B14F-4D97-AF65-F5344CB8AC3E}">
        <p14:creationId xmlns:p14="http://schemas.microsoft.com/office/powerpoint/2010/main" val="1037191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ADD5E-EEB8-BC7D-B1E7-0698F67FD3C4}"/>
              </a:ext>
            </a:extLst>
          </p:cNvPr>
          <p:cNvSpPr>
            <a:spLocks noGrp="1"/>
          </p:cNvSpPr>
          <p:nvPr>
            <p:ph type="title"/>
          </p:nvPr>
        </p:nvSpPr>
        <p:spPr/>
        <p:txBody>
          <a:bodyPr/>
          <a:lstStyle/>
          <a:p>
            <a:r>
              <a:rPr lang="en-US" b="1" dirty="0"/>
              <a:t>PREVIOUS WORKS</a:t>
            </a:r>
            <a:endParaRPr lang="en-IN" b="1" dirty="0"/>
          </a:p>
        </p:txBody>
      </p:sp>
      <p:sp>
        <p:nvSpPr>
          <p:cNvPr id="3" name="Content Placeholder 2">
            <a:extLst>
              <a:ext uri="{FF2B5EF4-FFF2-40B4-BE49-F238E27FC236}">
                <a16:creationId xmlns:a16="http://schemas.microsoft.com/office/drawing/2014/main" id="{E954D1E2-BAE5-46F5-5C10-703DD4AA122E}"/>
              </a:ext>
            </a:extLst>
          </p:cNvPr>
          <p:cNvSpPr>
            <a:spLocks noGrp="1"/>
          </p:cNvSpPr>
          <p:nvPr>
            <p:ph idx="1"/>
          </p:nvPr>
        </p:nvSpPr>
        <p:spPr>
          <a:xfrm>
            <a:off x="838200" y="1535290"/>
            <a:ext cx="10515600" cy="5322710"/>
          </a:xfrm>
        </p:spPr>
        <p:txBody>
          <a:bodyPr>
            <a:normAutofit fontScale="92500" lnSpcReduction="10000"/>
          </a:bodyPr>
          <a:lstStyle/>
          <a:p>
            <a:r>
              <a:rPr lang="en-US" sz="1600" dirty="0"/>
              <a:t>The SVM method and the Nave Bayes technique were used to predict kidney disease. The authors attempted to categorize various stages of kidney disease using the suggested ANFIS algorithm. The study’s purpose was to design an effective categorization algorithm using several assessment metrics such as accuracy and execution time. While the SVM Algorithm provided higher classification accuracy, the Nave Bayes fared better since it produced results in less time. The results show that SVM outperforms the Nave Bayes Approach in predicting renal illness.</a:t>
            </a:r>
          </a:p>
          <a:p>
            <a:r>
              <a:rPr lang="en-US" sz="1600" dirty="0"/>
              <a:t>The fuzzy technique with a membership function was used to forecast cardiac disease. Using the Fuzzy KNN Classifier, the authors attempted to eliminate ambiguity and uncertainty from data. The 550-record dataset was separated into 25 classes, with each class having 22 items. The dataset was separated into two equal parts: training and testing. The fuzzy KNN methodology was implemented after pre-processing techniques were used. This technique was examined using several assessment metrics such as accuracy, precision, and recall, among others. Based on the data, it was discovered that the fuzzy KNN classifier outperformed the KNN classifier in terms of accuracies.</a:t>
            </a:r>
          </a:p>
          <a:p>
            <a:r>
              <a:rPr lang="en-US" sz="1600" dirty="0"/>
              <a:t>For the prediction of cardiac disease, a novel technique based on the ANN algorithm was devised. The researchers created an interactive prediction method based on categorization using an artificial neural network algorithm and taking into account the thirteen most important clinical parameters. The suggested method proved effective for predicting heart disease with an accuracy of 80% and can be very useful for healthcare practitioners.</a:t>
            </a:r>
          </a:p>
          <a:p>
            <a:r>
              <a:rPr lang="en-US" sz="1600" dirty="0"/>
              <a:t>Diabetes and breast cancer were diagnosed by incorporating the adaptivity characteristic into support vector machines. The goal was to offer a rapid, automated, and adaptable diagnostic method using adaptive SVM. To achieve better results, the bias value in conventional SVM was changed. The suggested classifier produced output in the form of ‘if-then’ rules. The proposed method was used to diagnose diabetes and breast cancer, and it provided 100% right classification rates for both conditions. Future research should focus on developing more efficient ways for changing the bias value in conventional SVM.</a:t>
            </a:r>
          </a:p>
          <a:p>
            <a:r>
              <a:rPr lang="en-US" sz="1600" dirty="0"/>
              <a:t>For the prediction of type 2 diabetes, a hybrid model based on clustering followed by classification was proposed. For prediction, the suggested model uses K-means clustering and the C4.5 classification method with k-fold cross-validation. The model generated encouraging results with a classification accuracy of 88.38% using the hybrid technique, which might be highly useful for clinicians in making appropriate clinical choices related to diabetes.</a:t>
            </a:r>
            <a:endParaRPr lang="en-IN" sz="1600" dirty="0"/>
          </a:p>
        </p:txBody>
      </p:sp>
    </p:spTree>
    <p:extLst>
      <p:ext uri="{BB962C8B-B14F-4D97-AF65-F5344CB8AC3E}">
        <p14:creationId xmlns:p14="http://schemas.microsoft.com/office/powerpoint/2010/main" val="3508274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44F56-1470-FB89-1930-6B93046DD494}"/>
              </a:ext>
            </a:extLst>
          </p:cNvPr>
          <p:cNvSpPr>
            <a:spLocks noGrp="1"/>
          </p:cNvSpPr>
          <p:nvPr>
            <p:ph type="title"/>
          </p:nvPr>
        </p:nvSpPr>
        <p:spPr/>
        <p:txBody>
          <a:bodyPr/>
          <a:lstStyle/>
          <a:p>
            <a:r>
              <a:rPr lang="en-US" b="1" dirty="0"/>
              <a:t>METHODOLOGIES	</a:t>
            </a:r>
            <a:endParaRPr lang="en-IN" b="1" dirty="0"/>
          </a:p>
        </p:txBody>
      </p:sp>
      <p:sp>
        <p:nvSpPr>
          <p:cNvPr id="3" name="Content Placeholder 2">
            <a:extLst>
              <a:ext uri="{FF2B5EF4-FFF2-40B4-BE49-F238E27FC236}">
                <a16:creationId xmlns:a16="http://schemas.microsoft.com/office/drawing/2014/main" id="{49DE87AF-9DB2-A5EB-F771-C0B536117A27}"/>
              </a:ext>
            </a:extLst>
          </p:cNvPr>
          <p:cNvSpPr>
            <a:spLocks noGrp="1"/>
          </p:cNvSpPr>
          <p:nvPr>
            <p:ph idx="1"/>
          </p:nvPr>
        </p:nvSpPr>
        <p:spPr>
          <a:xfrm>
            <a:off x="838200" y="1825624"/>
            <a:ext cx="10515600" cy="5032375"/>
          </a:xfrm>
        </p:spPr>
        <p:txBody>
          <a:bodyPr>
            <a:normAutofit fontScale="62500" lnSpcReduction="20000"/>
          </a:bodyPr>
          <a:lstStyle/>
          <a:p>
            <a:r>
              <a:rPr lang="en-US" u="sng" dirty="0"/>
              <a:t>Machine Learning (ML)</a:t>
            </a:r>
            <a:r>
              <a:rPr lang="en-US" dirty="0"/>
              <a:t> is a subset of artificial intelligence (AI) that focuses on building systems that can learn from and make decisions based on data. It involves algorithms that improve their performance over time as they are exposed to more data.</a:t>
            </a:r>
          </a:p>
          <a:p>
            <a:r>
              <a:rPr lang="en-US" u="sng" dirty="0"/>
              <a:t>Supervised Learning </a:t>
            </a:r>
            <a:r>
              <a:rPr lang="en-US" dirty="0"/>
              <a:t>is a type of ML where the model is trained on labeled data. This means that each training example is paired with an output label. The model learns to map inputs to the correct outputs and can be used for tasks like classification and regression.</a:t>
            </a:r>
          </a:p>
          <a:p>
            <a:r>
              <a:rPr lang="en-US" u="sng" dirty="0"/>
              <a:t>Logistic Regression </a:t>
            </a:r>
            <a:r>
              <a:rPr lang="en-US" dirty="0"/>
              <a:t>is a supervised learning algorithm used for binary classification tasks. It estimates the probability of a binary outcome based on one or more predictor variables. The output is a value between 0 and 1, interpreted as the probability of the positive class.</a:t>
            </a:r>
          </a:p>
          <a:p>
            <a:r>
              <a:rPr lang="en-US" u="sng" dirty="0"/>
              <a:t>Support Vector Machine (SVM) </a:t>
            </a:r>
            <a:r>
              <a:rPr lang="en-US" dirty="0"/>
              <a:t>is a supervised learning algorithm used for classification and regression tasks. It finds the hyperplane that best separates different classes in the feature space. SVM can handle both linear and non-linear relationships by using kernel functions to transform the data.</a:t>
            </a:r>
          </a:p>
          <a:p>
            <a:r>
              <a:rPr lang="en-US" u="sng" dirty="0"/>
              <a:t>Decision Tree Classifier</a:t>
            </a:r>
            <a:r>
              <a:rPr lang="en-US" dirty="0"/>
              <a:t>  is a supervised learning algorithm that splits the data into subsets based on the values of input features. It uses a tree-like model of decisions and their possible consequences. Each internal node represents a decision based on an attribute, and each leaf node represents a class label.</a:t>
            </a:r>
          </a:p>
          <a:p>
            <a:r>
              <a:rPr lang="en-US" u="sng" dirty="0"/>
              <a:t>Random Forest Classifier</a:t>
            </a:r>
            <a:r>
              <a:rPr lang="en-US" dirty="0"/>
              <a:t> is an ensemble learning method that combines multiple decision trees to improve classification accuracy. Each tree is trained on a random subset of the data and features. The final prediction is made by aggregating the predictions from all the trees, usually by majority vote.</a:t>
            </a:r>
          </a:p>
          <a:p>
            <a:r>
              <a:rPr lang="en-US" u="sng" dirty="0"/>
              <a:t>Naive Bayes </a:t>
            </a:r>
            <a:r>
              <a:rPr lang="en-US" dirty="0"/>
              <a:t>is a family of probabilistic classifiers based on Bayes’ theorem with the assumption of independence between features. It is particularly useful for large datasets and text classification tasks. Despite its simplicity, it can be quite effective for many problems.</a:t>
            </a:r>
            <a:endParaRPr lang="en-IN" dirty="0"/>
          </a:p>
        </p:txBody>
      </p:sp>
    </p:spTree>
    <p:extLst>
      <p:ext uri="{BB962C8B-B14F-4D97-AF65-F5344CB8AC3E}">
        <p14:creationId xmlns:p14="http://schemas.microsoft.com/office/powerpoint/2010/main" val="1544408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14881-E847-BB03-2ABD-3768BDE3A4D4}"/>
              </a:ext>
            </a:extLst>
          </p:cNvPr>
          <p:cNvSpPr>
            <a:spLocks noGrp="1"/>
          </p:cNvSpPr>
          <p:nvPr>
            <p:ph type="title"/>
          </p:nvPr>
        </p:nvSpPr>
        <p:spPr/>
        <p:txBody>
          <a:bodyPr/>
          <a:lstStyle/>
          <a:p>
            <a:r>
              <a:rPr lang="en-IN" b="1" dirty="0"/>
              <a:t>Existing System</a:t>
            </a:r>
          </a:p>
        </p:txBody>
      </p:sp>
      <p:sp>
        <p:nvSpPr>
          <p:cNvPr id="3" name="Content Placeholder 2">
            <a:extLst>
              <a:ext uri="{FF2B5EF4-FFF2-40B4-BE49-F238E27FC236}">
                <a16:creationId xmlns:a16="http://schemas.microsoft.com/office/drawing/2014/main" id="{DC18A05E-A3AD-C127-6A5C-30A743C1DE8A}"/>
              </a:ext>
            </a:extLst>
          </p:cNvPr>
          <p:cNvSpPr>
            <a:spLocks noGrp="1"/>
          </p:cNvSpPr>
          <p:nvPr>
            <p:ph idx="1"/>
          </p:nvPr>
        </p:nvSpPr>
        <p:spPr/>
        <p:txBody>
          <a:bodyPr>
            <a:normAutofit lnSpcReduction="10000"/>
          </a:bodyPr>
          <a:lstStyle/>
          <a:p>
            <a:r>
              <a:rPr lang="en-US" dirty="0"/>
              <a:t>The existing system focuses on predicting diabetes, heart disease, and Parkinson’s disease using a variety of machine learning algorithms, including Naïve Bayes, Decision Trees, Random Forest, SVM, and Logistic Regression. </a:t>
            </a:r>
          </a:p>
          <a:p>
            <a:r>
              <a:rPr lang="en-US" dirty="0"/>
              <a:t>SVM achieved 76% accuracy in diabetes prediction and 71% in Parkinson’s disease, highlighting its effectiveness.</a:t>
            </a:r>
          </a:p>
          <a:p>
            <a:r>
              <a:rPr lang="en-US" dirty="0"/>
              <a:t>Other algorithms like logistic regression and Decision Trees are also employed, each leveraging distinct data characteristics for accurate predictions. Overall, the system demonstrates the potential of ML algorithms in disease prediction, with further enhancements to improve accuracy.</a:t>
            </a:r>
            <a:endParaRPr lang="en-IN" dirty="0"/>
          </a:p>
        </p:txBody>
      </p:sp>
    </p:spTree>
    <p:extLst>
      <p:ext uri="{BB962C8B-B14F-4D97-AF65-F5344CB8AC3E}">
        <p14:creationId xmlns:p14="http://schemas.microsoft.com/office/powerpoint/2010/main" val="2401301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11541-8CE9-80C5-A560-686C294F9530}"/>
              </a:ext>
            </a:extLst>
          </p:cNvPr>
          <p:cNvSpPr>
            <a:spLocks noGrp="1"/>
          </p:cNvSpPr>
          <p:nvPr>
            <p:ph type="title"/>
          </p:nvPr>
        </p:nvSpPr>
        <p:spPr/>
        <p:txBody>
          <a:bodyPr/>
          <a:lstStyle/>
          <a:p>
            <a:r>
              <a:rPr lang="en-US" b="1" dirty="0"/>
              <a:t>SCOPE OF IMPROVEMENT</a:t>
            </a:r>
            <a:endParaRPr lang="en-IN" b="1" dirty="0"/>
          </a:p>
        </p:txBody>
      </p:sp>
      <p:sp>
        <p:nvSpPr>
          <p:cNvPr id="3" name="Content Placeholder 2">
            <a:extLst>
              <a:ext uri="{FF2B5EF4-FFF2-40B4-BE49-F238E27FC236}">
                <a16:creationId xmlns:a16="http://schemas.microsoft.com/office/drawing/2014/main" id="{5CDF42AC-FC21-4E2F-6D64-35AB11D4ACDB}"/>
              </a:ext>
            </a:extLst>
          </p:cNvPr>
          <p:cNvSpPr>
            <a:spLocks noGrp="1"/>
          </p:cNvSpPr>
          <p:nvPr>
            <p:ph idx="1"/>
          </p:nvPr>
        </p:nvSpPr>
        <p:spPr/>
        <p:txBody>
          <a:bodyPr>
            <a:normAutofit/>
          </a:bodyPr>
          <a:lstStyle/>
          <a:p>
            <a:r>
              <a:rPr lang="en-US" dirty="0"/>
              <a:t>SVM achieved 76% accuracy in diabetes prediction and 71% in Parkinson’s disease, which may not be sufficient for clinical use where higher accuracy is crucial.</a:t>
            </a:r>
          </a:p>
          <a:p>
            <a:r>
              <a:rPr lang="en-US" dirty="0"/>
              <a:t>Other algorithms’ accuracy levels are not mentioned, and they might be lower, which could affect overall reliability.</a:t>
            </a:r>
          </a:p>
          <a:p>
            <a:r>
              <a:rPr lang="en-US" dirty="0"/>
              <a:t>While </a:t>
            </a:r>
            <a:r>
              <a:rPr lang="en-US" dirty="0" err="1"/>
              <a:t>Streamlit</a:t>
            </a:r>
            <a:r>
              <a:rPr lang="en-US" dirty="0"/>
              <a:t> offers a user-friendly interface, it might not provide the necessary flexibility and customization required for more complex user interactions or integration with other tools.</a:t>
            </a:r>
            <a:endParaRPr lang="en-IN" dirty="0"/>
          </a:p>
        </p:txBody>
      </p:sp>
    </p:spTree>
    <p:extLst>
      <p:ext uri="{BB962C8B-B14F-4D97-AF65-F5344CB8AC3E}">
        <p14:creationId xmlns:p14="http://schemas.microsoft.com/office/powerpoint/2010/main" val="2464296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9D1D0-412B-8EB9-8311-E567D9149A3D}"/>
              </a:ext>
            </a:extLst>
          </p:cNvPr>
          <p:cNvSpPr>
            <a:spLocks noGrp="1"/>
          </p:cNvSpPr>
          <p:nvPr>
            <p:ph type="title"/>
          </p:nvPr>
        </p:nvSpPr>
        <p:spPr/>
        <p:txBody>
          <a:bodyPr/>
          <a:lstStyle/>
          <a:p>
            <a:r>
              <a:rPr lang="en-US" b="1" dirty="0"/>
              <a:t>PROPOSED SYSTEM</a:t>
            </a:r>
            <a:endParaRPr lang="en-IN" b="1" dirty="0"/>
          </a:p>
        </p:txBody>
      </p:sp>
      <p:sp>
        <p:nvSpPr>
          <p:cNvPr id="3" name="Content Placeholder 2">
            <a:extLst>
              <a:ext uri="{FF2B5EF4-FFF2-40B4-BE49-F238E27FC236}">
                <a16:creationId xmlns:a16="http://schemas.microsoft.com/office/drawing/2014/main" id="{0101E4BB-B804-B065-3397-0E160896057B}"/>
              </a:ext>
            </a:extLst>
          </p:cNvPr>
          <p:cNvSpPr>
            <a:spLocks noGrp="1"/>
          </p:cNvSpPr>
          <p:nvPr>
            <p:ph idx="1"/>
          </p:nvPr>
        </p:nvSpPr>
        <p:spPr/>
        <p:txBody>
          <a:bodyPr>
            <a:normAutofit fontScale="77500" lnSpcReduction="20000"/>
          </a:bodyPr>
          <a:lstStyle/>
          <a:p>
            <a:r>
              <a:rPr lang="en-US" dirty="0"/>
              <a:t>The proposed methodology for this project involves leveraging multiple training models for disease prediction, where their performances are compared.</a:t>
            </a:r>
          </a:p>
          <a:p>
            <a:r>
              <a:rPr lang="en-US" dirty="0"/>
              <a:t>This process involves utilizing various libraries like pandas for data handling, </a:t>
            </a:r>
            <a:r>
              <a:rPr lang="en-US" dirty="0" err="1"/>
              <a:t>numpy</a:t>
            </a:r>
            <a:r>
              <a:rPr lang="en-US" dirty="0"/>
              <a:t> for numerical operations, scikit-learn for model training and evaluation, and pickle for exporting the trained model for future application use. Additionally, the approach enables the simultaneous prediction of multiple diseases, streamlining the prediction process for users. Compared to existing systems, this method offers faster predictions and numerous advantages, contributing to improved healthcare outcomes.</a:t>
            </a:r>
          </a:p>
          <a:p>
            <a:r>
              <a:rPr lang="en-US" dirty="0"/>
              <a:t>For the front end React.js is used over </a:t>
            </a:r>
            <a:r>
              <a:rPr lang="en-US" dirty="0" err="1"/>
              <a:t>Streamlit</a:t>
            </a:r>
            <a:r>
              <a:rPr lang="en-US" dirty="0"/>
              <a:t>. React.js, being a highly flexible and widely adopted JavaScript library for building user interfaces, provides developers with the tools to create dynamic and responsive web applications. Unlike </a:t>
            </a:r>
            <a:r>
              <a:rPr lang="en-US" dirty="0" err="1"/>
              <a:t>Streamlit</a:t>
            </a:r>
            <a:r>
              <a:rPr lang="en-US" dirty="0"/>
              <a:t>, which is primarily designed for creating data- driven web apps quickly and with minimal code, React.js offers a more comprehensive and customizable approach. This flexibility is crucial for building complex interfaces where user experience and interactivity are paramount.</a:t>
            </a:r>
            <a:endParaRPr lang="en-IN" dirty="0"/>
          </a:p>
        </p:txBody>
      </p:sp>
    </p:spTree>
    <p:extLst>
      <p:ext uri="{BB962C8B-B14F-4D97-AF65-F5344CB8AC3E}">
        <p14:creationId xmlns:p14="http://schemas.microsoft.com/office/powerpoint/2010/main" val="626383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E0AD5-3F76-BCD6-0324-7B9CD4D0CB6A}"/>
              </a:ext>
            </a:extLst>
          </p:cNvPr>
          <p:cNvSpPr>
            <a:spLocks noGrp="1"/>
          </p:cNvSpPr>
          <p:nvPr>
            <p:ph type="title"/>
          </p:nvPr>
        </p:nvSpPr>
        <p:spPr/>
        <p:txBody>
          <a:bodyPr/>
          <a:lstStyle/>
          <a:p>
            <a:r>
              <a:rPr lang="en-US" b="1" dirty="0"/>
              <a:t>ADVANTAGES OF PROPOSED SYSTEM</a:t>
            </a:r>
            <a:endParaRPr lang="en-IN" b="1" dirty="0"/>
          </a:p>
        </p:txBody>
      </p:sp>
      <p:sp>
        <p:nvSpPr>
          <p:cNvPr id="3" name="Content Placeholder 2">
            <a:extLst>
              <a:ext uri="{FF2B5EF4-FFF2-40B4-BE49-F238E27FC236}">
                <a16:creationId xmlns:a16="http://schemas.microsoft.com/office/drawing/2014/main" id="{7A97974C-4B2E-EB8D-4584-AD0E0FF3AF3C}"/>
              </a:ext>
            </a:extLst>
          </p:cNvPr>
          <p:cNvSpPr>
            <a:spLocks noGrp="1"/>
          </p:cNvSpPr>
          <p:nvPr>
            <p:ph idx="1"/>
          </p:nvPr>
        </p:nvSpPr>
        <p:spPr/>
        <p:txBody>
          <a:bodyPr>
            <a:normAutofit/>
          </a:bodyPr>
          <a:lstStyle/>
          <a:p>
            <a:r>
              <a:rPr lang="en-US" dirty="0"/>
              <a:t>Using React.js over </a:t>
            </a:r>
            <a:r>
              <a:rPr lang="en-US" dirty="0" err="1"/>
              <a:t>Streamlit</a:t>
            </a:r>
            <a:r>
              <a:rPr lang="en-US" dirty="0"/>
              <a:t> for the user interface of a disease prediction system offers several significant advantages, enhancing both the functionality and user experience of the application</a:t>
            </a:r>
          </a:p>
          <a:p>
            <a:r>
              <a:rPr lang="en-US" dirty="0"/>
              <a:t>Additionally, the approach enables the simultaneous prediction of multiple diseases, streamlining the prediction process for users and potentially reducing mortality rates. Compared to existing systems, this method offers faster predictions and numerous advantages, contributing to improved healthcare outcomes.</a:t>
            </a:r>
          </a:p>
          <a:p>
            <a:r>
              <a:rPr lang="en-US" dirty="0"/>
              <a:t>The proposed system add one more disease, that is Breast Cancer.</a:t>
            </a:r>
            <a:endParaRPr lang="en-IN" dirty="0"/>
          </a:p>
        </p:txBody>
      </p:sp>
    </p:spTree>
    <p:extLst>
      <p:ext uri="{BB962C8B-B14F-4D97-AF65-F5344CB8AC3E}">
        <p14:creationId xmlns:p14="http://schemas.microsoft.com/office/powerpoint/2010/main" val="2951388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AC0BB-3D6B-9ABA-92A0-33B80E331767}"/>
              </a:ext>
            </a:extLst>
          </p:cNvPr>
          <p:cNvSpPr>
            <a:spLocks noGrp="1"/>
          </p:cNvSpPr>
          <p:nvPr>
            <p:ph type="title"/>
          </p:nvPr>
        </p:nvSpPr>
        <p:spPr/>
        <p:txBody>
          <a:bodyPr/>
          <a:lstStyle/>
          <a:p>
            <a:r>
              <a:rPr lang="en-US" b="1" dirty="0"/>
              <a:t>DFD</a:t>
            </a:r>
            <a:endParaRPr lang="en-IN" b="1" dirty="0"/>
          </a:p>
        </p:txBody>
      </p:sp>
      <p:sp>
        <p:nvSpPr>
          <p:cNvPr id="3" name="Content Placeholder 2">
            <a:extLst>
              <a:ext uri="{FF2B5EF4-FFF2-40B4-BE49-F238E27FC236}">
                <a16:creationId xmlns:a16="http://schemas.microsoft.com/office/drawing/2014/main" id="{7E434E98-C63A-ABA0-1010-3265DEF2C11A}"/>
              </a:ext>
            </a:extLst>
          </p:cNvPr>
          <p:cNvSpPr>
            <a:spLocks noGrp="1"/>
          </p:cNvSpPr>
          <p:nvPr>
            <p:ph idx="1"/>
          </p:nvPr>
        </p:nvSpPr>
        <p:spPr/>
        <p:txBody>
          <a:bodyPr/>
          <a:lstStyle/>
          <a:p>
            <a:r>
              <a:rPr lang="en-US" dirty="0"/>
              <a:t>LEVEL 0</a:t>
            </a:r>
            <a:r>
              <a:rPr lang="en-IN" dirty="0"/>
              <a:t>: </a:t>
            </a:r>
            <a:endParaRPr lang="en-US" dirty="0"/>
          </a:p>
        </p:txBody>
      </p:sp>
      <p:pic>
        <p:nvPicPr>
          <p:cNvPr id="7" name="Picture 6">
            <a:extLst>
              <a:ext uri="{FF2B5EF4-FFF2-40B4-BE49-F238E27FC236}">
                <a16:creationId xmlns:a16="http://schemas.microsoft.com/office/drawing/2014/main" id="{EA73D37A-06BB-A017-F3C8-417FAE36387D}"/>
              </a:ext>
            </a:extLst>
          </p:cNvPr>
          <p:cNvPicPr>
            <a:picLocks noChangeAspect="1"/>
          </p:cNvPicPr>
          <p:nvPr/>
        </p:nvPicPr>
        <p:blipFill>
          <a:blip r:embed="rId2"/>
          <a:stretch>
            <a:fillRect/>
          </a:stretch>
        </p:blipFill>
        <p:spPr>
          <a:xfrm>
            <a:off x="1966255" y="2701364"/>
            <a:ext cx="8259490" cy="2027329"/>
          </a:xfrm>
          <a:prstGeom prst="rect">
            <a:avLst/>
          </a:prstGeom>
        </p:spPr>
      </p:pic>
    </p:spTree>
    <p:extLst>
      <p:ext uri="{BB962C8B-B14F-4D97-AF65-F5344CB8AC3E}">
        <p14:creationId xmlns:p14="http://schemas.microsoft.com/office/powerpoint/2010/main" val="307152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6A388-5998-BD56-3962-A125BE430204}"/>
              </a:ext>
            </a:extLst>
          </p:cNvPr>
          <p:cNvSpPr>
            <a:spLocks noGrp="1"/>
          </p:cNvSpPr>
          <p:nvPr>
            <p:ph type="title"/>
          </p:nvPr>
        </p:nvSpPr>
        <p:spPr/>
        <p:txBody>
          <a:bodyPr/>
          <a:lstStyle/>
          <a:p>
            <a:r>
              <a:rPr lang="en-US" b="1" dirty="0"/>
              <a:t>DFD</a:t>
            </a:r>
            <a:endParaRPr lang="en-IN" b="1" dirty="0"/>
          </a:p>
        </p:txBody>
      </p:sp>
      <p:sp>
        <p:nvSpPr>
          <p:cNvPr id="3" name="Content Placeholder 2">
            <a:extLst>
              <a:ext uri="{FF2B5EF4-FFF2-40B4-BE49-F238E27FC236}">
                <a16:creationId xmlns:a16="http://schemas.microsoft.com/office/drawing/2014/main" id="{C09DDAE8-4AA2-A51A-1EAD-8D7D0EFA32F0}"/>
              </a:ext>
            </a:extLst>
          </p:cNvPr>
          <p:cNvSpPr>
            <a:spLocks noGrp="1"/>
          </p:cNvSpPr>
          <p:nvPr>
            <p:ph idx="1"/>
          </p:nvPr>
        </p:nvSpPr>
        <p:spPr/>
        <p:txBody>
          <a:bodyPr/>
          <a:lstStyle/>
          <a:p>
            <a:r>
              <a:rPr lang="en-US" dirty="0"/>
              <a:t>LEVEL 1:</a:t>
            </a:r>
            <a:endParaRPr lang="en-IN" dirty="0"/>
          </a:p>
        </p:txBody>
      </p:sp>
      <p:pic>
        <p:nvPicPr>
          <p:cNvPr id="5" name="Picture 4">
            <a:extLst>
              <a:ext uri="{FF2B5EF4-FFF2-40B4-BE49-F238E27FC236}">
                <a16:creationId xmlns:a16="http://schemas.microsoft.com/office/drawing/2014/main" id="{2C5AA51A-0246-BE98-438A-141C7D47E72C}"/>
              </a:ext>
            </a:extLst>
          </p:cNvPr>
          <p:cNvPicPr>
            <a:picLocks noChangeAspect="1"/>
          </p:cNvPicPr>
          <p:nvPr/>
        </p:nvPicPr>
        <p:blipFill rotWithShape="1">
          <a:blip r:embed="rId2"/>
          <a:srcRect t="2644"/>
          <a:stretch/>
        </p:blipFill>
        <p:spPr>
          <a:xfrm>
            <a:off x="2394098" y="2272279"/>
            <a:ext cx="7186184" cy="4360681"/>
          </a:xfrm>
          <a:prstGeom prst="rect">
            <a:avLst/>
          </a:prstGeom>
        </p:spPr>
      </p:pic>
    </p:spTree>
    <p:extLst>
      <p:ext uri="{BB962C8B-B14F-4D97-AF65-F5344CB8AC3E}">
        <p14:creationId xmlns:p14="http://schemas.microsoft.com/office/powerpoint/2010/main" val="98422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1B5FF-CFA4-3847-C660-2796A3DFDF9C}"/>
              </a:ext>
            </a:extLst>
          </p:cNvPr>
          <p:cNvSpPr>
            <a:spLocks noGrp="1"/>
          </p:cNvSpPr>
          <p:nvPr>
            <p:ph type="title"/>
          </p:nvPr>
        </p:nvSpPr>
        <p:spPr/>
        <p:txBody>
          <a:bodyPr/>
          <a:lstStyle/>
          <a:p>
            <a:r>
              <a:rPr lang="en-US" b="1" dirty="0"/>
              <a:t>IMPLEMENTATION</a:t>
            </a:r>
            <a:endParaRPr lang="en-IN" b="1" dirty="0"/>
          </a:p>
        </p:txBody>
      </p:sp>
      <p:sp>
        <p:nvSpPr>
          <p:cNvPr id="3" name="Content Placeholder 2">
            <a:extLst>
              <a:ext uri="{FF2B5EF4-FFF2-40B4-BE49-F238E27FC236}">
                <a16:creationId xmlns:a16="http://schemas.microsoft.com/office/drawing/2014/main" id="{73ED31F6-328E-AA5C-C767-D87077992CF7}"/>
              </a:ext>
            </a:extLst>
          </p:cNvPr>
          <p:cNvSpPr>
            <a:spLocks noGrp="1"/>
          </p:cNvSpPr>
          <p:nvPr>
            <p:ph idx="1"/>
          </p:nvPr>
        </p:nvSpPr>
        <p:spPr/>
        <p:txBody>
          <a:bodyPr>
            <a:normAutofit lnSpcReduction="10000"/>
          </a:bodyPr>
          <a:lstStyle/>
          <a:p>
            <a:r>
              <a:rPr lang="en-US" dirty="0"/>
              <a:t>DATASET COLLECTION:</a:t>
            </a:r>
          </a:p>
          <a:p>
            <a:pPr>
              <a:buFont typeface="Courier New" panose="02070309020205020404" pitchFamily="49" charset="0"/>
              <a:buChar char="o"/>
            </a:pPr>
            <a:r>
              <a:rPr lang="en-US" dirty="0"/>
              <a:t>BREAST CANCER DATASET</a:t>
            </a:r>
          </a:p>
          <a:p>
            <a:pPr>
              <a:buFont typeface="Courier New" panose="02070309020205020404" pitchFamily="49" charset="0"/>
              <a:buChar char="o"/>
            </a:pPr>
            <a:r>
              <a:rPr lang="en-US" dirty="0"/>
              <a:t>DIABETES DATASET</a:t>
            </a:r>
          </a:p>
          <a:p>
            <a:pPr>
              <a:buFont typeface="Courier New" panose="02070309020205020404" pitchFamily="49" charset="0"/>
              <a:buChar char="o"/>
            </a:pPr>
            <a:r>
              <a:rPr lang="en-US" dirty="0"/>
              <a:t>HEART DISEASE DATASET</a:t>
            </a:r>
          </a:p>
          <a:p>
            <a:pPr>
              <a:buFont typeface="Courier New" panose="02070309020205020404" pitchFamily="49" charset="0"/>
              <a:buChar char="o"/>
            </a:pPr>
            <a:r>
              <a:rPr lang="en-US" dirty="0"/>
              <a:t>PARKINSON’S DISEASE DATASET</a:t>
            </a:r>
          </a:p>
          <a:p>
            <a:r>
              <a:rPr lang="en-US" dirty="0"/>
              <a:t>MODEL TRAINING</a:t>
            </a:r>
          </a:p>
          <a:p>
            <a:r>
              <a:rPr lang="en-US" dirty="0"/>
              <a:t>MODEL EVALAUTION</a:t>
            </a:r>
          </a:p>
          <a:p>
            <a:r>
              <a:rPr lang="en-US" dirty="0"/>
              <a:t>BUILDING FRONTEND</a:t>
            </a:r>
          </a:p>
          <a:p>
            <a:r>
              <a:rPr lang="en-US" dirty="0"/>
              <a:t>BUILDING BACKEND</a:t>
            </a:r>
            <a:endParaRPr lang="en-IN" dirty="0"/>
          </a:p>
        </p:txBody>
      </p:sp>
    </p:spTree>
    <p:extLst>
      <p:ext uri="{BB962C8B-B14F-4D97-AF65-F5344CB8AC3E}">
        <p14:creationId xmlns:p14="http://schemas.microsoft.com/office/powerpoint/2010/main" val="2398714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3403F-42D8-6B52-6BA8-7F4FEB376F2E}"/>
              </a:ext>
            </a:extLst>
          </p:cNvPr>
          <p:cNvSpPr>
            <a:spLocks noGrp="1"/>
          </p:cNvSpPr>
          <p:nvPr>
            <p:ph type="title"/>
          </p:nvPr>
        </p:nvSpPr>
        <p:spPr/>
        <p:txBody>
          <a:bodyPr/>
          <a:lstStyle/>
          <a:p>
            <a:r>
              <a:rPr lang="en-US" dirty="0"/>
              <a:t>BREAST CANCER DATASET</a:t>
            </a:r>
            <a:endParaRPr lang="en-IN" dirty="0"/>
          </a:p>
        </p:txBody>
      </p:sp>
      <p:sp>
        <p:nvSpPr>
          <p:cNvPr id="3" name="Content Placeholder 2">
            <a:extLst>
              <a:ext uri="{FF2B5EF4-FFF2-40B4-BE49-F238E27FC236}">
                <a16:creationId xmlns:a16="http://schemas.microsoft.com/office/drawing/2014/main" id="{BD083E77-FB16-F189-9A88-3194138E7F7C}"/>
              </a:ext>
            </a:extLst>
          </p:cNvPr>
          <p:cNvSpPr>
            <a:spLocks noGrp="1"/>
          </p:cNvSpPr>
          <p:nvPr>
            <p:ph idx="1"/>
          </p:nvPr>
        </p:nvSpPr>
        <p:spPr>
          <a:xfrm>
            <a:off x="838200" y="1825625"/>
            <a:ext cx="7581484" cy="4351338"/>
          </a:xfrm>
        </p:spPr>
        <p:txBody>
          <a:bodyPr>
            <a:normAutofit/>
          </a:bodyPr>
          <a:lstStyle/>
          <a:p>
            <a:r>
              <a:rPr lang="en-US" dirty="0"/>
              <a:t>The data set contains patient records from a 1984-1989 trial conducted by the German Breast Cancer Study Group (GBSG) of 720 patients with node positive breast cancer; it retains the 686 patients with complete data for the prognostic variables. These data sets are used in the paper by Royston and Altman(2013). The Rotterdam data is used to create a fitted model, and the GBSG data for validation of the model. The paper gives references for the data source.</a:t>
            </a:r>
            <a:endParaRPr lang="en-IN" dirty="0"/>
          </a:p>
        </p:txBody>
      </p:sp>
      <p:pic>
        <p:nvPicPr>
          <p:cNvPr id="5" name="Picture 4">
            <a:extLst>
              <a:ext uri="{FF2B5EF4-FFF2-40B4-BE49-F238E27FC236}">
                <a16:creationId xmlns:a16="http://schemas.microsoft.com/office/drawing/2014/main" id="{107F9812-9989-B154-AB9E-EFC812355D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9684" y="2232721"/>
            <a:ext cx="3772316" cy="3010232"/>
          </a:xfrm>
          <a:prstGeom prst="rect">
            <a:avLst/>
          </a:prstGeom>
        </p:spPr>
      </p:pic>
    </p:spTree>
    <p:extLst>
      <p:ext uri="{BB962C8B-B14F-4D97-AF65-F5344CB8AC3E}">
        <p14:creationId xmlns:p14="http://schemas.microsoft.com/office/powerpoint/2010/main" val="3679987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3BDD6-E916-BDF5-3297-31FE936DAB66}"/>
              </a:ext>
            </a:extLst>
          </p:cNvPr>
          <p:cNvSpPr>
            <a:spLocks noGrp="1"/>
          </p:cNvSpPr>
          <p:nvPr>
            <p:ph type="title"/>
          </p:nvPr>
        </p:nvSpPr>
        <p:spPr/>
        <p:txBody>
          <a:bodyPr/>
          <a:lstStyle/>
          <a:p>
            <a:r>
              <a:rPr lang="en-US" dirty="0"/>
              <a:t>DIABETES DATASET</a:t>
            </a:r>
            <a:endParaRPr lang="en-IN" dirty="0"/>
          </a:p>
        </p:txBody>
      </p:sp>
      <p:sp>
        <p:nvSpPr>
          <p:cNvPr id="3" name="Content Placeholder 2">
            <a:extLst>
              <a:ext uri="{FF2B5EF4-FFF2-40B4-BE49-F238E27FC236}">
                <a16:creationId xmlns:a16="http://schemas.microsoft.com/office/drawing/2014/main" id="{7EA012DA-7C39-935F-731F-827E91F1EEAF}"/>
              </a:ext>
            </a:extLst>
          </p:cNvPr>
          <p:cNvSpPr>
            <a:spLocks noGrp="1"/>
          </p:cNvSpPr>
          <p:nvPr>
            <p:ph idx="1"/>
          </p:nvPr>
        </p:nvSpPr>
        <p:spPr/>
        <p:txBody>
          <a:bodyPr/>
          <a:lstStyle/>
          <a:p>
            <a:r>
              <a:rPr lang="en-US" dirty="0"/>
              <a:t>The dataset contains features such as number of pregnancies, glucose, blood pressure, skin thickness, insulin, body mass index (BMI) and age.</a:t>
            </a:r>
            <a:endParaRPr lang="en-IN" dirty="0"/>
          </a:p>
        </p:txBody>
      </p:sp>
      <p:pic>
        <p:nvPicPr>
          <p:cNvPr id="5" name="Picture 4">
            <a:extLst>
              <a:ext uri="{FF2B5EF4-FFF2-40B4-BE49-F238E27FC236}">
                <a16:creationId xmlns:a16="http://schemas.microsoft.com/office/drawing/2014/main" id="{DEE7C2AF-B1DA-EF03-80D5-873A98D799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3618" y="3653618"/>
            <a:ext cx="4504763" cy="2523345"/>
          </a:xfrm>
          <a:prstGeom prst="rect">
            <a:avLst/>
          </a:prstGeom>
        </p:spPr>
      </p:pic>
    </p:spTree>
    <p:extLst>
      <p:ext uri="{BB962C8B-B14F-4D97-AF65-F5344CB8AC3E}">
        <p14:creationId xmlns:p14="http://schemas.microsoft.com/office/powerpoint/2010/main" val="1533407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C4FD0-5546-717F-F0A0-51EC647A4B58}"/>
              </a:ext>
            </a:extLst>
          </p:cNvPr>
          <p:cNvSpPr>
            <a:spLocks noGrp="1"/>
          </p:cNvSpPr>
          <p:nvPr>
            <p:ph type="title"/>
          </p:nvPr>
        </p:nvSpPr>
        <p:spPr/>
        <p:txBody>
          <a:bodyPr/>
          <a:lstStyle/>
          <a:p>
            <a:r>
              <a:rPr lang="en-US" dirty="0"/>
              <a:t>HEART DISEASE DATASET</a:t>
            </a:r>
            <a:endParaRPr lang="en-IN" dirty="0"/>
          </a:p>
        </p:txBody>
      </p:sp>
      <p:sp>
        <p:nvSpPr>
          <p:cNvPr id="3" name="Content Placeholder 2">
            <a:extLst>
              <a:ext uri="{FF2B5EF4-FFF2-40B4-BE49-F238E27FC236}">
                <a16:creationId xmlns:a16="http://schemas.microsoft.com/office/drawing/2014/main" id="{7057AFD5-0C29-FFC0-5A53-1838F0CBD99B}"/>
              </a:ext>
            </a:extLst>
          </p:cNvPr>
          <p:cNvSpPr>
            <a:spLocks noGrp="1"/>
          </p:cNvSpPr>
          <p:nvPr>
            <p:ph idx="1"/>
          </p:nvPr>
        </p:nvSpPr>
        <p:spPr/>
        <p:txBody>
          <a:bodyPr/>
          <a:lstStyle/>
          <a:p>
            <a:r>
              <a:rPr lang="en-IN" dirty="0"/>
              <a:t>The dataset contains features such as age, sex, cholesterol, resting blood pressure, fasting glucose levels, resting electrocardiographic measurement, maximum heart rate achieved, Exercise induced angina, calcium and thalassemia.</a:t>
            </a:r>
          </a:p>
        </p:txBody>
      </p:sp>
      <p:pic>
        <p:nvPicPr>
          <p:cNvPr id="5" name="Picture 4">
            <a:extLst>
              <a:ext uri="{FF2B5EF4-FFF2-40B4-BE49-F238E27FC236}">
                <a16:creationId xmlns:a16="http://schemas.microsoft.com/office/drawing/2014/main" id="{A59745B2-0796-7356-7ABF-33BAC86921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9267" y="3429000"/>
            <a:ext cx="3734212" cy="3357403"/>
          </a:xfrm>
          <a:prstGeom prst="rect">
            <a:avLst/>
          </a:prstGeom>
        </p:spPr>
      </p:pic>
    </p:spTree>
    <p:extLst>
      <p:ext uri="{BB962C8B-B14F-4D97-AF65-F5344CB8AC3E}">
        <p14:creationId xmlns:p14="http://schemas.microsoft.com/office/powerpoint/2010/main" val="2645806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D880F-BB26-81E2-82F8-E20E55040139}"/>
              </a:ext>
            </a:extLst>
          </p:cNvPr>
          <p:cNvSpPr>
            <a:spLocks noGrp="1"/>
          </p:cNvSpPr>
          <p:nvPr>
            <p:ph type="title"/>
          </p:nvPr>
        </p:nvSpPr>
        <p:spPr/>
        <p:txBody>
          <a:bodyPr/>
          <a:lstStyle/>
          <a:p>
            <a:r>
              <a:rPr lang="en-US" dirty="0"/>
              <a:t>PARKINSON’S DISEASE DATASET</a:t>
            </a:r>
            <a:endParaRPr lang="en-IN" dirty="0"/>
          </a:p>
        </p:txBody>
      </p:sp>
      <p:sp>
        <p:nvSpPr>
          <p:cNvPr id="3" name="Content Placeholder 2">
            <a:extLst>
              <a:ext uri="{FF2B5EF4-FFF2-40B4-BE49-F238E27FC236}">
                <a16:creationId xmlns:a16="http://schemas.microsoft.com/office/drawing/2014/main" id="{B7C7D034-E317-C4E6-81B7-D0C2F2529BA9}"/>
              </a:ext>
            </a:extLst>
          </p:cNvPr>
          <p:cNvSpPr>
            <a:spLocks noGrp="1"/>
          </p:cNvSpPr>
          <p:nvPr>
            <p:ph idx="1"/>
          </p:nvPr>
        </p:nvSpPr>
        <p:spPr>
          <a:xfrm>
            <a:off x="838200" y="1825625"/>
            <a:ext cx="7093688" cy="4351338"/>
          </a:xfrm>
        </p:spPr>
        <p:txBody>
          <a:bodyPr>
            <a:normAutofit fontScale="85000" lnSpcReduction="20000"/>
          </a:bodyPr>
          <a:lstStyle/>
          <a:p>
            <a:r>
              <a:rPr lang="en-US" dirty="0"/>
              <a:t>The dataset was created by Max Little of the University of Oxford, in collaboration with the National Centre for Voice and Speech, Denver, Colorado, who recorded the speech signals. The original study published the feature extraction methods for general voice disorders. This dataset is composed of a range of biomedical voice measurements from 31 people, 23 with Parkinson’s disease (PD). Each column in the table is a particular voice measure, and each row corresponds one of 195 voice recording from these individuals (”name” column).</a:t>
            </a:r>
          </a:p>
          <a:p>
            <a:r>
              <a:rPr lang="en-US" dirty="0"/>
              <a:t>The main aim of the data is to discriminate healthy people from those with PD, according to ”status” column which is set to 0 for healthy and 1 for PD.</a:t>
            </a:r>
            <a:endParaRPr lang="en-IN" dirty="0"/>
          </a:p>
        </p:txBody>
      </p:sp>
      <p:pic>
        <p:nvPicPr>
          <p:cNvPr id="5" name="Picture 4">
            <a:extLst>
              <a:ext uri="{FF2B5EF4-FFF2-40B4-BE49-F238E27FC236}">
                <a16:creationId xmlns:a16="http://schemas.microsoft.com/office/drawing/2014/main" id="{002C9DAF-238F-E565-974B-B08F1CB247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8121" y="1513936"/>
            <a:ext cx="4343879" cy="4974715"/>
          </a:xfrm>
          <a:prstGeom prst="rect">
            <a:avLst/>
          </a:prstGeom>
        </p:spPr>
      </p:pic>
    </p:spTree>
    <p:extLst>
      <p:ext uri="{BB962C8B-B14F-4D97-AF65-F5344CB8AC3E}">
        <p14:creationId xmlns:p14="http://schemas.microsoft.com/office/powerpoint/2010/main" val="3431998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CE26-A6C8-618E-7DC5-C55A986A9E0A}"/>
              </a:ext>
            </a:extLst>
          </p:cNvPr>
          <p:cNvSpPr>
            <a:spLocks noGrp="1"/>
          </p:cNvSpPr>
          <p:nvPr>
            <p:ph type="title"/>
          </p:nvPr>
        </p:nvSpPr>
        <p:spPr/>
        <p:txBody>
          <a:bodyPr/>
          <a:lstStyle/>
          <a:p>
            <a:r>
              <a:rPr lang="en-US" b="1" dirty="0"/>
              <a:t>MODEL TRAINING	</a:t>
            </a:r>
            <a:endParaRPr lang="en-IN" b="1" dirty="0"/>
          </a:p>
        </p:txBody>
      </p:sp>
      <p:sp>
        <p:nvSpPr>
          <p:cNvPr id="3" name="Content Placeholder 2">
            <a:extLst>
              <a:ext uri="{FF2B5EF4-FFF2-40B4-BE49-F238E27FC236}">
                <a16:creationId xmlns:a16="http://schemas.microsoft.com/office/drawing/2014/main" id="{C8D3D412-C682-BBE4-29BA-8EFABAA9EA3B}"/>
              </a:ext>
            </a:extLst>
          </p:cNvPr>
          <p:cNvSpPr>
            <a:spLocks noGrp="1"/>
          </p:cNvSpPr>
          <p:nvPr>
            <p:ph idx="1"/>
          </p:nvPr>
        </p:nvSpPr>
        <p:spPr/>
        <p:txBody>
          <a:bodyPr/>
          <a:lstStyle/>
          <a:p>
            <a:pPr marL="0" indent="0">
              <a:buNone/>
            </a:pPr>
            <a:r>
              <a:rPr lang="en-US" dirty="0"/>
              <a:t>Various machine learning models are employed to predict different diseases based on the provided dataset. Specifically:</a:t>
            </a:r>
          </a:p>
          <a:p>
            <a:pPr>
              <a:buFont typeface="Arial" panose="020B0604020202020204" pitchFamily="34" charset="0"/>
              <a:buChar char="•"/>
            </a:pPr>
            <a:r>
              <a:rPr lang="en-US" b="1" dirty="0"/>
              <a:t>Support Vector Machine (SVM)</a:t>
            </a:r>
            <a:r>
              <a:rPr lang="en-US" dirty="0"/>
              <a:t> is used for predicting Breast Cancer, Parkinson’s Disease, and Diabetes.</a:t>
            </a:r>
          </a:p>
          <a:p>
            <a:pPr>
              <a:buFont typeface="Arial" panose="020B0604020202020204" pitchFamily="34" charset="0"/>
              <a:buChar char="•"/>
            </a:pPr>
            <a:r>
              <a:rPr lang="en-US" b="1" dirty="0"/>
              <a:t>Logistic Regression</a:t>
            </a:r>
            <a:r>
              <a:rPr lang="en-US" dirty="0"/>
              <a:t> is applied across all diseases.</a:t>
            </a:r>
          </a:p>
          <a:p>
            <a:pPr>
              <a:buFont typeface="Arial" panose="020B0604020202020204" pitchFamily="34" charset="0"/>
              <a:buChar char="•"/>
            </a:pPr>
            <a:r>
              <a:rPr lang="en-US" b="1" dirty="0"/>
              <a:t>Naïve Bayes</a:t>
            </a:r>
            <a:r>
              <a:rPr lang="en-US" dirty="0"/>
              <a:t> is utilized for predicting Breast Cancer, Diabetes, and Heart Disease.</a:t>
            </a:r>
          </a:p>
          <a:p>
            <a:pPr>
              <a:buFont typeface="Arial" panose="020B0604020202020204" pitchFamily="34" charset="0"/>
              <a:buChar char="•"/>
            </a:pPr>
            <a:r>
              <a:rPr lang="en-US" b="1" dirty="0"/>
              <a:t>Decision Tree Classifier</a:t>
            </a:r>
            <a:r>
              <a:rPr lang="en-US" dirty="0"/>
              <a:t> and </a:t>
            </a:r>
            <a:r>
              <a:rPr lang="en-US" b="1" dirty="0"/>
              <a:t>Random Forest Classifier</a:t>
            </a:r>
            <a:r>
              <a:rPr lang="en-US" dirty="0"/>
              <a:t> are both used for predicting Breast Cancer.</a:t>
            </a:r>
          </a:p>
        </p:txBody>
      </p:sp>
    </p:spTree>
    <p:extLst>
      <p:ext uri="{BB962C8B-B14F-4D97-AF65-F5344CB8AC3E}">
        <p14:creationId xmlns:p14="http://schemas.microsoft.com/office/powerpoint/2010/main" val="3129009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3CD54-7595-0F02-7322-8C0D4F07200A}"/>
              </a:ext>
            </a:extLst>
          </p:cNvPr>
          <p:cNvSpPr>
            <a:spLocks noGrp="1"/>
          </p:cNvSpPr>
          <p:nvPr>
            <p:ph type="title"/>
          </p:nvPr>
        </p:nvSpPr>
        <p:spPr/>
        <p:txBody>
          <a:bodyPr/>
          <a:lstStyle/>
          <a:p>
            <a:r>
              <a:rPr lang="en-US" b="1" dirty="0"/>
              <a:t>ACCURACY SCORES OF THE MODELS</a:t>
            </a:r>
            <a:endParaRPr lang="en-IN" b="1" dirty="0"/>
          </a:p>
        </p:txBody>
      </p:sp>
      <p:sp>
        <p:nvSpPr>
          <p:cNvPr id="3" name="Content Placeholder 2">
            <a:extLst>
              <a:ext uri="{FF2B5EF4-FFF2-40B4-BE49-F238E27FC236}">
                <a16:creationId xmlns:a16="http://schemas.microsoft.com/office/drawing/2014/main" id="{41558D1F-786F-9536-F8C8-6728C321B358}"/>
              </a:ext>
            </a:extLst>
          </p:cNvPr>
          <p:cNvSpPr>
            <a:spLocks noGrp="1"/>
          </p:cNvSpPr>
          <p:nvPr>
            <p:ph idx="1"/>
          </p:nvPr>
        </p:nvSpPr>
        <p:spPr/>
        <p:txBody>
          <a:bodyPr/>
          <a:lstStyle/>
          <a:p>
            <a:r>
              <a:rPr lang="en-US" dirty="0"/>
              <a:t>BREAST CANCER PREDICTION:</a:t>
            </a:r>
          </a:p>
          <a:p>
            <a:endParaRPr lang="en-IN" dirty="0"/>
          </a:p>
        </p:txBody>
      </p:sp>
      <p:graphicFrame>
        <p:nvGraphicFramePr>
          <p:cNvPr id="4" name="Table 3">
            <a:extLst>
              <a:ext uri="{FF2B5EF4-FFF2-40B4-BE49-F238E27FC236}">
                <a16:creationId xmlns:a16="http://schemas.microsoft.com/office/drawing/2014/main" id="{FAF308B0-699B-0932-0D0A-B7F001F05060}"/>
              </a:ext>
            </a:extLst>
          </p:cNvPr>
          <p:cNvGraphicFramePr>
            <a:graphicFrameLocks noGrp="1"/>
          </p:cNvGraphicFramePr>
          <p:nvPr>
            <p:extLst>
              <p:ext uri="{D42A27DB-BD31-4B8C-83A1-F6EECF244321}">
                <p14:modId xmlns:p14="http://schemas.microsoft.com/office/powerpoint/2010/main" val="3417951669"/>
              </p:ext>
            </p:extLst>
          </p:nvPr>
        </p:nvGraphicFramePr>
        <p:xfrm>
          <a:off x="2577805" y="2491759"/>
          <a:ext cx="8128000" cy="22250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961602161"/>
                    </a:ext>
                  </a:extLst>
                </a:gridCol>
                <a:gridCol w="4064000">
                  <a:extLst>
                    <a:ext uri="{9D8B030D-6E8A-4147-A177-3AD203B41FA5}">
                      <a16:colId xmlns:a16="http://schemas.microsoft.com/office/drawing/2014/main" val="871526069"/>
                    </a:ext>
                  </a:extLst>
                </a:gridCol>
              </a:tblGrid>
              <a:tr h="370840">
                <a:tc>
                  <a:txBody>
                    <a:bodyPr/>
                    <a:lstStyle/>
                    <a:p>
                      <a:r>
                        <a:rPr lang="en-US" dirty="0"/>
                        <a:t>ALGORITHM USED</a:t>
                      </a:r>
                      <a:endParaRPr lang="en-IN" dirty="0"/>
                    </a:p>
                  </a:txBody>
                  <a:tcPr/>
                </a:tc>
                <a:tc>
                  <a:txBody>
                    <a:bodyPr/>
                    <a:lstStyle/>
                    <a:p>
                      <a:r>
                        <a:rPr lang="en-US" dirty="0"/>
                        <a:t>ACCURACY SCORE</a:t>
                      </a:r>
                      <a:endParaRPr lang="en-IN" dirty="0"/>
                    </a:p>
                  </a:txBody>
                  <a:tcPr/>
                </a:tc>
                <a:extLst>
                  <a:ext uri="{0D108BD9-81ED-4DB2-BD59-A6C34878D82A}">
                    <a16:rowId xmlns:a16="http://schemas.microsoft.com/office/drawing/2014/main" val="2838713923"/>
                  </a:ext>
                </a:extLst>
              </a:tr>
              <a:tr h="370840">
                <a:tc>
                  <a:txBody>
                    <a:bodyPr/>
                    <a:lstStyle/>
                    <a:p>
                      <a:r>
                        <a:rPr lang="en-US" dirty="0"/>
                        <a:t>LOGISTIC REGRESSION</a:t>
                      </a:r>
                      <a:endParaRPr lang="en-IN" dirty="0"/>
                    </a:p>
                  </a:txBody>
                  <a:tcPr/>
                </a:tc>
                <a:tc>
                  <a:txBody>
                    <a:bodyPr/>
                    <a:lstStyle/>
                    <a:p>
                      <a:r>
                        <a:rPr lang="en-US" dirty="0"/>
                        <a:t>77%</a:t>
                      </a:r>
                      <a:endParaRPr lang="en-IN" dirty="0"/>
                    </a:p>
                  </a:txBody>
                  <a:tcPr/>
                </a:tc>
                <a:extLst>
                  <a:ext uri="{0D108BD9-81ED-4DB2-BD59-A6C34878D82A}">
                    <a16:rowId xmlns:a16="http://schemas.microsoft.com/office/drawing/2014/main" val="2079611428"/>
                  </a:ext>
                </a:extLst>
              </a:tr>
              <a:tr h="370840">
                <a:tc>
                  <a:txBody>
                    <a:bodyPr/>
                    <a:lstStyle/>
                    <a:p>
                      <a:r>
                        <a:rPr lang="en-US" dirty="0"/>
                        <a:t>NAÏVE BAYES</a:t>
                      </a:r>
                      <a:endParaRPr lang="en-IN" dirty="0"/>
                    </a:p>
                  </a:txBody>
                  <a:tcPr/>
                </a:tc>
                <a:tc>
                  <a:txBody>
                    <a:bodyPr/>
                    <a:lstStyle/>
                    <a:p>
                      <a:r>
                        <a:rPr lang="en-US" dirty="0"/>
                        <a:t>68%</a:t>
                      </a:r>
                      <a:endParaRPr lang="en-IN" dirty="0"/>
                    </a:p>
                  </a:txBody>
                  <a:tcPr/>
                </a:tc>
                <a:extLst>
                  <a:ext uri="{0D108BD9-81ED-4DB2-BD59-A6C34878D82A}">
                    <a16:rowId xmlns:a16="http://schemas.microsoft.com/office/drawing/2014/main" val="3564859210"/>
                  </a:ext>
                </a:extLst>
              </a:tr>
              <a:tr h="370840">
                <a:tc>
                  <a:txBody>
                    <a:bodyPr/>
                    <a:lstStyle/>
                    <a:p>
                      <a:r>
                        <a:rPr lang="en-US" dirty="0"/>
                        <a:t>DECESION TREE CLASSIFIER</a:t>
                      </a:r>
                      <a:endParaRPr lang="en-IN" dirty="0"/>
                    </a:p>
                  </a:txBody>
                  <a:tcPr/>
                </a:tc>
                <a:tc>
                  <a:txBody>
                    <a:bodyPr/>
                    <a:lstStyle/>
                    <a:p>
                      <a:r>
                        <a:rPr lang="en-US" dirty="0"/>
                        <a:t>62%</a:t>
                      </a:r>
                      <a:endParaRPr lang="en-IN" dirty="0"/>
                    </a:p>
                  </a:txBody>
                  <a:tcPr/>
                </a:tc>
                <a:extLst>
                  <a:ext uri="{0D108BD9-81ED-4DB2-BD59-A6C34878D82A}">
                    <a16:rowId xmlns:a16="http://schemas.microsoft.com/office/drawing/2014/main" val="1118520166"/>
                  </a:ext>
                </a:extLst>
              </a:tr>
              <a:tr h="370840">
                <a:tc>
                  <a:txBody>
                    <a:bodyPr/>
                    <a:lstStyle/>
                    <a:p>
                      <a:r>
                        <a:rPr lang="en-US" dirty="0"/>
                        <a:t>RANDOM FOREST CLASSIFIER</a:t>
                      </a:r>
                      <a:endParaRPr lang="en-IN" dirty="0"/>
                    </a:p>
                  </a:txBody>
                  <a:tcPr/>
                </a:tc>
                <a:tc>
                  <a:txBody>
                    <a:bodyPr/>
                    <a:lstStyle/>
                    <a:p>
                      <a:r>
                        <a:rPr lang="en-US" dirty="0"/>
                        <a:t>80%</a:t>
                      </a:r>
                      <a:endParaRPr lang="en-IN" dirty="0"/>
                    </a:p>
                  </a:txBody>
                  <a:tcPr/>
                </a:tc>
                <a:extLst>
                  <a:ext uri="{0D108BD9-81ED-4DB2-BD59-A6C34878D82A}">
                    <a16:rowId xmlns:a16="http://schemas.microsoft.com/office/drawing/2014/main" val="2589669071"/>
                  </a:ext>
                </a:extLst>
              </a:tr>
              <a:tr h="370840">
                <a:tc>
                  <a:txBody>
                    <a:bodyPr/>
                    <a:lstStyle/>
                    <a:p>
                      <a:r>
                        <a:rPr lang="en-US" dirty="0"/>
                        <a:t>SVM</a:t>
                      </a:r>
                      <a:endParaRPr lang="en-IN" dirty="0"/>
                    </a:p>
                  </a:txBody>
                  <a:tcPr/>
                </a:tc>
                <a:tc>
                  <a:txBody>
                    <a:bodyPr/>
                    <a:lstStyle/>
                    <a:p>
                      <a:r>
                        <a:rPr lang="en-US" dirty="0"/>
                        <a:t>75%</a:t>
                      </a:r>
                      <a:endParaRPr lang="en-IN" dirty="0"/>
                    </a:p>
                  </a:txBody>
                  <a:tcPr/>
                </a:tc>
                <a:extLst>
                  <a:ext uri="{0D108BD9-81ED-4DB2-BD59-A6C34878D82A}">
                    <a16:rowId xmlns:a16="http://schemas.microsoft.com/office/drawing/2014/main" val="488008194"/>
                  </a:ext>
                </a:extLst>
              </a:tr>
            </a:tbl>
          </a:graphicData>
        </a:graphic>
      </p:graphicFrame>
    </p:spTree>
    <p:extLst>
      <p:ext uri="{BB962C8B-B14F-4D97-AF65-F5344CB8AC3E}">
        <p14:creationId xmlns:p14="http://schemas.microsoft.com/office/powerpoint/2010/main" val="356335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56ADB8-AE7B-D7D9-42BC-FF2E7105B6CA}"/>
              </a:ext>
            </a:extLst>
          </p:cNvPr>
          <p:cNvSpPr>
            <a:spLocks noGrp="1"/>
          </p:cNvSpPr>
          <p:nvPr>
            <p:ph idx="1"/>
          </p:nvPr>
        </p:nvSpPr>
        <p:spPr>
          <a:xfrm>
            <a:off x="838200" y="297712"/>
            <a:ext cx="10515600" cy="6560288"/>
          </a:xfrm>
        </p:spPr>
        <p:txBody>
          <a:bodyPr/>
          <a:lstStyle/>
          <a:p>
            <a:r>
              <a:rPr lang="en-US" dirty="0"/>
              <a:t>DIABETES PREDICTION:</a:t>
            </a:r>
          </a:p>
          <a:p>
            <a:endParaRPr lang="en-US" dirty="0"/>
          </a:p>
          <a:p>
            <a:endParaRPr lang="en-US" dirty="0"/>
          </a:p>
          <a:p>
            <a:endParaRPr lang="en-US" dirty="0"/>
          </a:p>
          <a:p>
            <a:endParaRPr lang="en-US" dirty="0"/>
          </a:p>
          <a:p>
            <a:endParaRPr lang="en-US" dirty="0"/>
          </a:p>
          <a:p>
            <a:r>
              <a:rPr lang="en-US" dirty="0"/>
              <a:t>HEART  DISEASE PREDICTION:</a:t>
            </a:r>
            <a:endParaRPr lang="en-IN" dirty="0"/>
          </a:p>
        </p:txBody>
      </p:sp>
      <p:graphicFrame>
        <p:nvGraphicFramePr>
          <p:cNvPr id="4" name="Table 3">
            <a:extLst>
              <a:ext uri="{FF2B5EF4-FFF2-40B4-BE49-F238E27FC236}">
                <a16:creationId xmlns:a16="http://schemas.microsoft.com/office/drawing/2014/main" id="{6A196C0E-EDB0-A334-2998-A697944C6A2A}"/>
              </a:ext>
            </a:extLst>
          </p:cNvPr>
          <p:cNvGraphicFramePr>
            <a:graphicFrameLocks noGrp="1"/>
          </p:cNvGraphicFramePr>
          <p:nvPr>
            <p:extLst>
              <p:ext uri="{D42A27DB-BD31-4B8C-83A1-F6EECF244321}">
                <p14:modId xmlns:p14="http://schemas.microsoft.com/office/powerpoint/2010/main" val="338809343"/>
              </p:ext>
            </p:extLst>
          </p:nvPr>
        </p:nvGraphicFramePr>
        <p:xfrm>
          <a:off x="2180856" y="1127051"/>
          <a:ext cx="8128000" cy="14782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252166820"/>
                    </a:ext>
                  </a:extLst>
                </a:gridCol>
                <a:gridCol w="4064000">
                  <a:extLst>
                    <a:ext uri="{9D8B030D-6E8A-4147-A177-3AD203B41FA5}">
                      <a16:colId xmlns:a16="http://schemas.microsoft.com/office/drawing/2014/main" val="2724046412"/>
                    </a:ext>
                  </a:extLst>
                </a:gridCol>
              </a:tblGrid>
              <a:tr h="332050">
                <a:tc>
                  <a:txBody>
                    <a:bodyPr/>
                    <a:lstStyle/>
                    <a:p>
                      <a:r>
                        <a:rPr lang="en-US" dirty="0"/>
                        <a:t>ALGORITHM USED</a:t>
                      </a:r>
                      <a:endParaRPr lang="en-IN" dirty="0"/>
                    </a:p>
                  </a:txBody>
                  <a:tcPr/>
                </a:tc>
                <a:tc>
                  <a:txBody>
                    <a:bodyPr/>
                    <a:lstStyle/>
                    <a:p>
                      <a:r>
                        <a:rPr lang="en-US" dirty="0"/>
                        <a:t>ACCURACY SCORE</a:t>
                      </a:r>
                      <a:endParaRPr lang="en-IN" dirty="0"/>
                    </a:p>
                  </a:txBody>
                  <a:tcPr/>
                </a:tc>
                <a:extLst>
                  <a:ext uri="{0D108BD9-81ED-4DB2-BD59-A6C34878D82A}">
                    <a16:rowId xmlns:a16="http://schemas.microsoft.com/office/drawing/2014/main" val="2384999293"/>
                  </a:ext>
                </a:extLst>
              </a:tr>
              <a:tr h="370840">
                <a:tc>
                  <a:txBody>
                    <a:bodyPr/>
                    <a:lstStyle/>
                    <a:p>
                      <a:r>
                        <a:rPr lang="en-US" dirty="0"/>
                        <a:t>LOGISTIC REGRESSION</a:t>
                      </a:r>
                      <a:endParaRPr lang="en-IN" dirty="0"/>
                    </a:p>
                  </a:txBody>
                  <a:tcPr/>
                </a:tc>
                <a:tc>
                  <a:txBody>
                    <a:bodyPr/>
                    <a:lstStyle/>
                    <a:p>
                      <a:r>
                        <a:rPr lang="en-US" dirty="0"/>
                        <a:t>76%</a:t>
                      </a:r>
                      <a:endParaRPr lang="en-IN" dirty="0"/>
                    </a:p>
                  </a:txBody>
                  <a:tcPr/>
                </a:tc>
                <a:extLst>
                  <a:ext uri="{0D108BD9-81ED-4DB2-BD59-A6C34878D82A}">
                    <a16:rowId xmlns:a16="http://schemas.microsoft.com/office/drawing/2014/main" val="739767345"/>
                  </a:ext>
                </a:extLst>
              </a:tr>
              <a:tr h="370840">
                <a:tc>
                  <a:txBody>
                    <a:bodyPr/>
                    <a:lstStyle/>
                    <a:p>
                      <a:r>
                        <a:rPr lang="en-US" dirty="0"/>
                        <a:t>NAÏVE BAYES</a:t>
                      </a:r>
                      <a:endParaRPr lang="en-IN" dirty="0"/>
                    </a:p>
                  </a:txBody>
                  <a:tcPr/>
                </a:tc>
                <a:tc>
                  <a:txBody>
                    <a:bodyPr/>
                    <a:lstStyle/>
                    <a:p>
                      <a:r>
                        <a:rPr lang="en-US" dirty="0"/>
                        <a:t>77%</a:t>
                      </a:r>
                      <a:endParaRPr lang="en-IN" dirty="0"/>
                    </a:p>
                  </a:txBody>
                  <a:tcPr/>
                </a:tc>
                <a:extLst>
                  <a:ext uri="{0D108BD9-81ED-4DB2-BD59-A6C34878D82A}">
                    <a16:rowId xmlns:a16="http://schemas.microsoft.com/office/drawing/2014/main" val="3804008504"/>
                  </a:ext>
                </a:extLst>
              </a:tr>
              <a:tr h="370840">
                <a:tc>
                  <a:txBody>
                    <a:bodyPr/>
                    <a:lstStyle/>
                    <a:p>
                      <a:r>
                        <a:rPr lang="en-US" dirty="0"/>
                        <a:t>SVM </a:t>
                      </a:r>
                      <a:endParaRPr lang="en-IN" dirty="0"/>
                    </a:p>
                  </a:txBody>
                  <a:tcPr/>
                </a:tc>
                <a:tc>
                  <a:txBody>
                    <a:bodyPr/>
                    <a:lstStyle/>
                    <a:p>
                      <a:r>
                        <a:rPr lang="en-US" dirty="0"/>
                        <a:t>77%</a:t>
                      </a:r>
                      <a:endParaRPr lang="en-IN" dirty="0"/>
                    </a:p>
                  </a:txBody>
                  <a:tcPr/>
                </a:tc>
                <a:extLst>
                  <a:ext uri="{0D108BD9-81ED-4DB2-BD59-A6C34878D82A}">
                    <a16:rowId xmlns:a16="http://schemas.microsoft.com/office/drawing/2014/main" val="2120192390"/>
                  </a:ext>
                </a:extLst>
              </a:tr>
            </a:tbl>
          </a:graphicData>
        </a:graphic>
      </p:graphicFrame>
      <p:graphicFrame>
        <p:nvGraphicFramePr>
          <p:cNvPr id="5" name="Table 4">
            <a:extLst>
              <a:ext uri="{FF2B5EF4-FFF2-40B4-BE49-F238E27FC236}">
                <a16:creationId xmlns:a16="http://schemas.microsoft.com/office/drawing/2014/main" id="{8BC1B19F-C336-E320-5412-7E8197503808}"/>
              </a:ext>
            </a:extLst>
          </p:cNvPr>
          <p:cNvGraphicFramePr>
            <a:graphicFrameLocks noGrp="1"/>
          </p:cNvGraphicFramePr>
          <p:nvPr>
            <p:extLst>
              <p:ext uri="{D42A27DB-BD31-4B8C-83A1-F6EECF244321}">
                <p14:modId xmlns:p14="http://schemas.microsoft.com/office/powerpoint/2010/main" val="2716588134"/>
              </p:ext>
            </p:extLst>
          </p:nvPr>
        </p:nvGraphicFramePr>
        <p:xfrm>
          <a:off x="2180856" y="4419796"/>
          <a:ext cx="8128000" cy="1112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065774269"/>
                    </a:ext>
                  </a:extLst>
                </a:gridCol>
                <a:gridCol w="4064000">
                  <a:extLst>
                    <a:ext uri="{9D8B030D-6E8A-4147-A177-3AD203B41FA5}">
                      <a16:colId xmlns:a16="http://schemas.microsoft.com/office/drawing/2014/main" val="4117701787"/>
                    </a:ext>
                  </a:extLst>
                </a:gridCol>
              </a:tblGrid>
              <a:tr h="370840">
                <a:tc>
                  <a:txBody>
                    <a:bodyPr/>
                    <a:lstStyle/>
                    <a:p>
                      <a:r>
                        <a:rPr lang="en-US" dirty="0"/>
                        <a:t>ALGORITHM USED</a:t>
                      </a:r>
                      <a:endParaRPr lang="en-IN" dirty="0"/>
                    </a:p>
                  </a:txBody>
                  <a:tcPr/>
                </a:tc>
                <a:tc>
                  <a:txBody>
                    <a:bodyPr/>
                    <a:lstStyle/>
                    <a:p>
                      <a:r>
                        <a:rPr lang="en-US" dirty="0"/>
                        <a:t>ACCURACY SCORE</a:t>
                      </a:r>
                      <a:endParaRPr lang="en-IN" dirty="0"/>
                    </a:p>
                  </a:txBody>
                  <a:tcPr/>
                </a:tc>
                <a:extLst>
                  <a:ext uri="{0D108BD9-81ED-4DB2-BD59-A6C34878D82A}">
                    <a16:rowId xmlns:a16="http://schemas.microsoft.com/office/drawing/2014/main" val="2255446623"/>
                  </a:ext>
                </a:extLst>
              </a:tr>
              <a:tr h="370840">
                <a:tc>
                  <a:txBody>
                    <a:bodyPr/>
                    <a:lstStyle/>
                    <a:p>
                      <a:r>
                        <a:rPr lang="en-US" dirty="0"/>
                        <a:t>LOGISTIC REGRESSION</a:t>
                      </a:r>
                      <a:endParaRPr lang="en-IN" dirty="0"/>
                    </a:p>
                  </a:txBody>
                  <a:tcPr/>
                </a:tc>
                <a:tc>
                  <a:txBody>
                    <a:bodyPr/>
                    <a:lstStyle/>
                    <a:p>
                      <a:r>
                        <a:rPr lang="en-US" dirty="0"/>
                        <a:t>84%</a:t>
                      </a:r>
                      <a:endParaRPr lang="en-IN" dirty="0"/>
                    </a:p>
                  </a:txBody>
                  <a:tcPr/>
                </a:tc>
                <a:extLst>
                  <a:ext uri="{0D108BD9-81ED-4DB2-BD59-A6C34878D82A}">
                    <a16:rowId xmlns:a16="http://schemas.microsoft.com/office/drawing/2014/main" val="2373268949"/>
                  </a:ext>
                </a:extLst>
              </a:tr>
              <a:tr h="370840">
                <a:tc>
                  <a:txBody>
                    <a:bodyPr/>
                    <a:lstStyle/>
                    <a:p>
                      <a:r>
                        <a:rPr lang="en-US" dirty="0"/>
                        <a:t>NAÏVE BAYES </a:t>
                      </a:r>
                      <a:endParaRPr lang="en-IN" dirty="0"/>
                    </a:p>
                  </a:txBody>
                  <a:tcPr/>
                </a:tc>
                <a:tc>
                  <a:txBody>
                    <a:bodyPr/>
                    <a:lstStyle/>
                    <a:p>
                      <a:r>
                        <a:rPr lang="en-US" dirty="0"/>
                        <a:t>85%</a:t>
                      </a:r>
                      <a:endParaRPr lang="en-IN" dirty="0"/>
                    </a:p>
                  </a:txBody>
                  <a:tcPr/>
                </a:tc>
                <a:extLst>
                  <a:ext uri="{0D108BD9-81ED-4DB2-BD59-A6C34878D82A}">
                    <a16:rowId xmlns:a16="http://schemas.microsoft.com/office/drawing/2014/main" val="4275882704"/>
                  </a:ext>
                </a:extLst>
              </a:tr>
            </a:tbl>
          </a:graphicData>
        </a:graphic>
      </p:graphicFrame>
    </p:spTree>
    <p:extLst>
      <p:ext uri="{BB962C8B-B14F-4D97-AF65-F5344CB8AC3E}">
        <p14:creationId xmlns:p14="http://schemas.microsoft.com/office/powerpoint/2010/main" val="9654314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5EBF62-6172-C779-8EF8-61A164DF7723}"/>
              </a:ext>
            </a:extLst>
          </p:cNvPr>
          <p:cNvSpPr>
            <a:spLocks noGrp="1"/>
          </p:cNvSpPr>
          <p:nvPr>
            <p:ph idx="1"/>
          </p:nvPr>
        </p:nvSpPr>
        <p:spPr>
          <a:xfrm>
            <a:off x="838200" y="396949"/>
            <a:ext cx="10515600" cy="5780014"/>
          </a:xfrm>
        </p:spPr>
        <p:txBody>
          <a:bodyPr/>
          <a:lstStyle/>
          <a:p>
            <a:r>
              <a:rPr lang="en-US" dirty="0"/>
              <a:t>PARKINSON’S DISEASE PREDICTION:</a:t>
            </a:r>
            <a:endParaRPr lang="en-IN" dirty="0"/>
          </a:p>
        </p:txBody>
      </p:sp>
      <p:graphicFrame>
        <p:nvGraphicFramePr>
          <p:cNvPr id="4" name="Table 3">
            <a:extLst>
              <a:ext uri="{FF2B5EF4-FFF2-40B4-BE49-F238E27FC236}">
                <a16:creationId xmlns:a16="http://schemas.microsoft.com/office/drawing/2014/main" id="{36B316C4-C1AC-A689-FA8B-A87BBC270E84}"/>
              </a:ext>
            </a:extLst>
          </p:cNvPr>
          <p:cNvGraphicFramePr>
            <a:graphicFrameLocks noGrp="1"/>
          </p:cNvGraphicFramePr>
          <p:nvPr>
            <p:extLst>
              <p:ext uri="{D42A27DB-BD31-4B8C-83A1-F6EECF244321}">
                <p14:modId xmlns:p14="http://schemas.microsoft.com/office/powerpoint/2010/main" val="1779231241"/>
              </p:ext>
            </p:extLst>
          </p:nvPr>
        </p:nvGraphicFramePr>
        <p:xfrm>
          <a:off x="2421861" y="1244205"/>
          <a:ext cx="8128000" cy="11074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719496735"/>
                    </a:ext>
                  </a:extLst>
                </a:gridCol>
                <a:gridCol w="4064000">
                  <a:extLst>
                    <a:ext uri="{9D8B030D-6E8A-4147-A177-3AD203B41FA5}">
                      <a16:colId xmlns:a16="http://schemas.microsoft.com/office/drawing/2014/main" val="3299137435"/>
                    </a:ext>
                  </a:extLst>
                </a:gridCol>
              </a:tblGrid>
              <a:tr h="0">
                <a:tc>
                  <a:txBody>
                    <a:bodyPr/>
                    <a:lstStyle/>
                    <a:p>
                      <a:r>
                        <a:rPr lang="en-US" dirty="0"/>
                        <a:t>ALGORITHM USED</a:t>
                      </a:r>
                      <a:endParaRPr lang="en-IN" dirty="0"/>
                    </a:p>
                  </a:txBody>
                  <a:tcPr/>
                </a:tc>
                <a:tc>
                  <a:txBody>
                    <a:bodyPr/>
                    <a:lstStyle/>
                    <a:p>
                      <a:r>
                        <a:rPr lang="en-US" dirty="0"/>
                        <a:t>ACCURACY SCORE</a:t>
                      </a:r>
                      <a:endParaRPr lang="en-IN" dirty="0"/>
                    </a:p>
                  </a:txBody>
                  <a:tcPr/>
                </a:tc>
                <a:extLst>
                  <a:ext uri="{0D108BD9-81ED-4DB2-BD59-A6C34878D82A}">
                    <a16:rowId xmlns:a16="http://schemas.microsoft.com/office/drawing/2014/main" val="2183836622"/>
                  </a:ext>
                </a:extLst>
              </a:tr>
              <a:tr h="370840">
                <a:tc>
                  <a:txBody>
                    <a:bodyPr/>
                    <a:lstStyle/>
                    <a:p>
                      <a:r>
                        <a:rPr lang="en-US" dirty="0"/>
                        <a:t>LOGISTIC REGRESSION</a:t>
                      </a:r>
                      <a:endParaRPr lang="en-IN" dirty="0"/>
                    </a:p>
                  </a:txBody>
                  <a:tcPr/>
                </a:tc>
                <a:tc>
                  <a:txBody>
                    <a:bodyPr/>
                    <a:lstStyle/>
                    <a:p>
                      <a:r>
                        <a:rPr lang="en-US" dirty="0"/>
                        <a:t>86%</a:t>
                      </a:r>
                      <a:endParaRPr lang="en-IN" dirty="0"/>
                    </a:p>
                  </a:txBody>
                  <a:tcPr/>
                </a:tc>
                <a:extLst>
                  <a:ext uri="{0D108BD9-81ED-4DB2-BD59-A6C34878D82A}">
                    <a16:rowId xmlns:a16="http://schemas.microsoft.com/office/drawing/2014/main" val="926093476"/>
                  </a:ext>
                </a:extLst>
              </a:tr>
              <a:tr h="370840">
                <a:tc>
                  <a:txBody>
                    <a:bodyPr/>
                    <a:lstStyle/>
                    <a:p>
                      <a:r>
                        <a:rPr lang="en-US" dirty="0"/>
                        <a:t>SVM</a:t>
                      </a:r>
                      <a:endParaRPr lang="en-IN" dirty="0"/>
                    </a:p>
                  </a:txBody>
                  <a:tcPr/>
                </a:tc>
                <a:tc>
                  <a:txBody>
                    <a:bodyPr/>
                    <a:lstStyle/>
                    <a:p>
                      <a:r>
                        <a:rPr lang="en-US" dirty="0"/>
                        <a:t>90%</a:t>
                      </a:r>
                      <a:endParaRPr lang="en-IN" dirty="0"/>
                    </a:p>
                  </a:txBody>
                  <a:tcPr/>
                </a:tc>
                <a:extLst>
                  <a:ext uri="{0D108BD9-81ED-4DB2-BD59-A6C34878D82A}">
                    <a16:rowId xmlns:a16="http://schemas.microsoft.com/office/drawing/2014/main" val="4141441837"/>
                  </a:ext>
                </a:extLst>
              </a:tr>
            </a:tbl>
          </a:graphicData>
        </a:graphic>
      </p:graphicFrame>
    </p:spTree>
    <p:extLst>
      <p:ext uri="{BB962C8B-B14F-4D97-AF65-F5344CB8AC3E}">
        <p14:creationId xmlns:p14="http://schemas.microsoft.com/office/powerpoint/2010/main" val="203999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4BB3A-6CEA-988A-9F2E-0986A98D9A07}"/>
              </a:ext>
            </a:extLst>
          </p:cNvPr>
          <p:cNvSpPr>
            <a:spLocks noGrp="1"/>
          </p:cNvSpPr>
          <p:nvPr>
            <p:ph type="title"/>
          </p:nvPr>
        </p:nvSpPr>
        <p:spPr/>
        <p:txBody>
          <a:bodyPr/>
          <a:lstStyle/>
          <a:p>
            <a:r>
              <a:rPr lang="en-US" b="1" dirty="0"/>
              <a:t>SUMMURY</a:t>
            </a:r>
            <a:endParaRPr lang="en-IN" b="1" dirty="0"/>
          </a:p>
        </p:txBody>
      </p:sp>
      <p:sp>
        <p:nvSpPr>
          <p:cNvPr id="3" name="Content Placeholder 2">
            <a:extLst>
              <a:ext uri="{FF2B5EF4-FFF2-40B4-BE49-F238E27FC236}">
                <a16:creationId xmlns:a16="http://schemas.microsoft.com/office/drawing/2014/main" id="{CA431AC1-4C2D-D182-A3A6-6CE9C22FA1E2}"/>
              </a:ext>
            </a:extLst>
          </p:cNvPr>
          <p:cNvSpPr>
            <a:spLocks noGrp="1"/>
          </p:cNvSpPr>
          <p:nvPr>
            <p:ph idx="1"/>
          </p:nvPr>
        </p:nvSpPr>
        <p:spPr/>
        <p:txBody>
          <a:bodyPr>
            <a:normAutofit/>
          </a:bodyPr>
          <a:lstStyle/>
          <a:p>
            <a:r>
              <a:rPr lang="en-US" dirty="0"/>
              <a:t>The fields of disease diagnosis and prediction hold significant potential for transformation through ML techniques.</a:t>
            </a:r>
          </a:p>
          <a:p>
            <a:r>
              <a:rPr lang="en-US" dirty="0"/>
              <a:t>Accuracy and correctness in diagnosis are most important aspects in effective treatment procedures for managing sickness.</a:t>
            </a:r>
          </a:p>
          <a:p>
            <a:r>
              <a:rPr lang="en-US" dirty="0"/>
              <a:t>In our system, we employ the Random forest classifier for breast cancer, Naïve Bayes algorithm for heart disease, SVM for diabetes and Parkinson’s disease for prediction. Patients input values into the system to determine disease presence.</a:t>
            </a:r>
          </a:p>
          <a:p>
            <a:r>
              <a:rPr lang="en-US" dirty="0"/>
              <a:t>The accuracy of predictions relies on the machine learning algorithm’s ability to retrieve precise outputs.</a:t>
            </a:r>
            <a:endParaRPr lang="en-IN" dirty="0"/>
          </a:p>
        </p:txBody>
      </p:sp>
    </p:spTree>
    <p:extLst>
      <p:ext uri="{BB962C8B-B14F-4D97-AF65-F5344CB8AC3E}">
        <p14:creationId xmlns:p14="http://schemas.microsoft.com/office/powerpoint/2010/main" val="135798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5519F-25CB-DF1C-0E5D-E6DDDEE86267}"/>
              </a:ext>
            </a:extLst>
          </p:cNvPr>
          <p:cNvSpPr>
            <a:spLocks noGrp="1"/>
          </p:cNvSpPr>
          <p:nvPr>
            <p:ph type="title"/>
          </p:nvPr>
        </p:nvSpPr>
        <p:spPr/>
        <p:txBody>
          <a:bodyPr/>
          <a:lstStyle/>
          <a:p>
            <a:r>
              <a:rPr lang="en-US" b="1" dirty="0"/>
              <a:t>FRONTEND</a:t>
            </a:r>
            <a:endParaRPr lang="en-IN" b="1" dirty="0"/>
          </a:p>
        </p:txBody>
      </p:sp>
      <p:sp>
        <p:nvSpPr>
          <p:cNvPr id="3" name="Content Placeholder 2">
            <a:extLst>
              <a:ext uri="{FF2B5EF4-FFF2-40B4-BE49-F238E27FC236}">
                <a16:creationId xmlns:a16="http://schemas.microsoft.com/office/drawing/2014/main" id="{26715B6C-8214-1080-2EA0-721EA8108F14}"/>
              </a:ext>
            </a:extLst>
          </p:cNvPr>
          <p:cNvSpPr>
            <a:spLocks noGrp="1"/>
          </p:cNvSpPr>
          <p:nvPr>
            <p:ph idx="1"/>
          </p:nvPr>
        </p:nvSpPr>
        <p:spPr/>
        <p:txBody>
          <a:bodyPr>
            <a:normAutofit fontScale="62500" lnSpcReduction="20000"/>
          </a:bodyPr>
          <a:lstStyle/>
          <a:p>
            <a:r>
              <a:rPr lang="en-US" dirty="0"/>
              <a:t>A react.js file named ’</a:t>
            </a:r>
            <a:r>
              <a:rPr lang="en-US" dirty="0" err="1"/>
              <a:t>App.jsx</a:t>
            </a:r>
            <a:r>
              <a:rPr lang="en-US" dirty="0"/>
              <a:t>’ is created which holds the path to other application for </a:t>
            </a:r>
            <a:r>
              <a:rPr lang="en-US" dirty="0" err="1"/>
              <a:t>diseases.This</a:t>
            </a:r>
            <a:r>
              <a:rPr lang="en-US" dirty="0"/>
              <a:t> file defines the App component for a React application.</a:t>
            </a:r>
          </a:p>
          <a:p>
            <a:r>
              <a:rPr lang="en-US" dirty="0"/>
              <a:t>The App component serves as the main container for the user interface, including navigation and different disease prediction forms. The component imports several dependencies, including React for building the UI, various disease-specific components like Diabetes, Heart Disease, Breast Cancer, and Parkinson’s, and a Sidebar component for navigation. It also imports a CSS file for styling. </a:t>
            </a:r>
          </a:p>
          <a:p>
            <a:r>
              <a:rPr lang="en-US" dirty="0"/>
              <a:t>Inside the App component, a state variable called ’</a:t>
            </a:r>
            <a:r>
              <a:rPr lang="en-US" dirty="0" err="1"/>
              <a:t>selectedOption</a:t>
            </a:r>
            <a:r>
              <a:rPr lang="en-US" dirty="0"/>
              <a:t>’ is used to track the currently selected disease prediction form. This state is initialized to display the ”Diabetes Prediction” form by default. The ’</a:t>
            </a:r>
            <a:r>
              <a:rPr lang="en-US" dirty="0" err="1"/>
              <a:t>setSelectedOption</a:t>
            </a:r>
            <a:r>
              <a:rPr lang="en-US" dirty="0"/>
              <a:t>’ function is used to update this state based on user interaction. ’</a:t>
            </a:r>
            <a:r>
              <a:rPr lang="en-US" dirty="0" err="1"/>
              <a:t>Sidebar.jsx</a:t>
            </a:r>
            <a:r>
              <a:rPr lang="en-US" dirty="0"/>
              <a:t>’ is the main gateway to different disease pages. The component renders a Sidebar component, which provides navigation options. Based on the value of </a:t>
            </a:r>
            <a:r>
              <a:rPr lang="en-US" dirty="0" err="1"/>
              <a:t>selectedOption</a:t>
            </a:r>
            <a:r>
              <a:rPr lang="en-US" dirty="0"/>
              <a:t>, the component conditionally renders the corresponding disease prediction form.</a:t>
            </a:r>
          </a:p>
          <a:p>
            <a:r>
              <a:rPr lang="en-US" dirty="0"/>
              <a:t>If ”Diabetes Prediction” is selected, the Diabetes component is shown. Similarly, the Heart Disease, Breast Cancer, or Parkinson’s components are rendered based on the user’s selection. The App component is exported as the default export, making it available for use in other parts of the application. Overall, this file defines the primary structure and functionality for switching between different disease prediction forms in the application, handling user selection </a:t>
            </a:r>
            <a:r>
              <a:rPr lang="en-US" dirty="0" err="1"/>
              <a:t>throughthe</a:t>
            </a:r>
            <a:r>
              <a:rPr lang="en-US" dirty="0"/>
              <a:t> Sidebar, and managing the content displayed based on the user’s choice.</a:t>
            </a:r>
            <a:endParaRPr lang="en-IN" dirty="0"/>
          </a:p>
        </p:txBody>
      </p:sp>
    </p:spTree>
    <p:extLst>
      <p:ext uri="{BB962C8B-B14F-4D97-AF65-F5344CB8AC3E}">
        <p14:creationId xmlns:p14="http://schemas.microsoft.com/office/powerpoint/2010/main" val="43280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A7367-53F3-FB05-F859-F173432B081A}"/>
              </a:ext>
            </a:extLst>
          </p:cNvPr>
          <p:cNvSpPr>
            <a:spLocks noGrp="1"/>
          </p:cNvSpPr>
          <p:nvPr>
            <p:ph type="title"/>
          </p:nvPr>
        </p:nvSpPr>
        <p:spPr/>
        <p:txBody>
          <a:bodyPr/>
          <a:lstStyle/>
          <a:p>
            <a:r>
              <a:rPr lang="en-US" b="1" dirty="0"/>
              <a:t>BACKEND</a:t>
            </a:r>
            <a:endParaRPr lang="en-IN" b="1" dirty="0"/>
          </a:p>
        </p:txBody>
      </p:sp>
      <p:sp>
        <p:nvSpPr>
          <p:cNvPr id="3" name="Content Placeholder 2">
            <a:extLst>
              <a:ext uri="{FF2B5EF4-FFF2-40B4-BE49-F238E27FC236}">
                <a16:creationId xmlns:a16="http://schemas.microsoft.com/office/drawing/2014/main" id="{27DE260A-5E17-F35E-DA2C-AFE81D6943DC}"/>
              </a:ext>
            </a:extLst>
          </p:cNvPr>
          <p:cNvSpPr>
            <a:spLocks noGrp="1"/>
          </p:cNvSpPr>
          <p:nvPr>
            <p:ph idx="1"/>
          </p:nvPr>
        </p:nvSpPr>
        <p:spPr/>
        <p:txBody>
          <a:bodyPr>
            <a:normAutofit fontScale="92500" lnSpcReduction="10000"/>
          </a:bodyPr>
          <a:lstStyle/>
          <a:p>
            <a:r>
              <a:rPr lang="en-US" dirty="0"/>
              <a:t>Flask is a lightweight Python web framework for building web applications. It provides essential tools for routing, request handling, and templating, allowing developers to create flexible and scalable applications. Its minimalist approach gives developers control over the project structure, making it suitable for small to medium-sized projects.</a:t>
            </a:r>
          </a:p>
          <a:p>
            <a:r>
              <a:rPr lang="en-US" dirty="0"/>
              <a:t>In this project, the data provided by the user at the ’</a:t>
            </a:r>
            <a:r>
              <a:rPr lang="en-US" dirty="0" err="1"/>
              <a:t>App.jsx</a:t>
            </a:r>
            <a:r>
              <a:rPr lang="en-US" dirty="0"/>
              <a:t>’ file is fetched.</a:t>
            </a:r>
          </a:p>
          <a:p>
            <a:r>
              <a:rPr lang="en-US" dirty="0"/>
              <a:t>At the backend, all trained machine learning models are loaded using pickle or </a:t>
            </a:r>
            <a:r>
              <a:rPr lang="en-US" dirty="0" err="1"/>
              <a:t>joblib</a:t>
            </a:r>
            <a:r>
              <a:rPr lang="en-US" dirty="0"/>
              <a:t>, and the are provided with the data of the specific disease.</a:t>
            </a:r>
          </a:p>
          <a:p>
            <a:r>
              <a:rPr lang="en-US" dirty="0"/>
              <a:t>The model then makes a prediction and a value (0/1) is generated. The python file then return a result in statement whether there is a probability of the disease from the given symptoms or not.</a:t>
            </a:r>
            <a:endParaRPr lang="en-IN" dirty="0"/>
          </a:p>
        </p:txBody>
      </p:sp>
    </p:spTree>
    <p:extLst>
      <p:ext uri="{BB962C8B-B14F-4D97-AF65-F5344CB8AC3E}">
        <p14:creationId xmlns:p14="http://schemas.microsoft.com/office/powerpoint/2010/main" val="5591150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380D7-7856-146F-B705-18516231953D}"/>
              </a:ext>
            </a:extLst>
          </p:cNvPr>
          <p:cNvSpPr>
            <a:spLocks noGrp="1"/>
          </p:cNvSpPr>
          <p:nvPr>
            <p:ph type="title"/>
          </p:nvPr>
        </p:nvSpPr>
        <p:spPr/>
        <p:txBody>
          <a:bodyPr/>
          <a:lstStyle/>
          <a:p>
            <a:r>
              <a:rPr lang="en-US" b="1" dirty="0"/>
              <a:t>UML (Unified Modeling Language) DIAGRAM</a:t>
            </a:r>
            <a:endParaRPr lang="en-IN" b="1" dirty="0"/>
          </a:p>
        </p:txBody>
      </p:sp>
      <p:pic>
        <p:nvPicPr>
          <p:cNvPr id="5" name="Content Placeholder 4">
            <a:extLst>
              <a:ext uri="{FF2B5EF4-FFF2-40B4-BE49-F238E27FC236}">
                <a16:creationId xmlns:a16="http://schemas.microsoft.com/office/drawing/2014/main" id="{EB40C893-81B8-428D-22A9-454451645831}"/>
              </a:ext>
            </a:extLst>
          </p:cNvPr>
          <p:cNvPicPr>
            <a:picLocks noGrp="1" noChangeAspect="1"/>
          </p:cNvPicPr>
          <p:nvPr>
            <p:ph idx="1"/>
          </p:nvPr>
        </p:nvPicPr>
        <p:blipFill>
          <a:blip r:embed="rId2"/>
          <a:stretch>
            <a:fillRect/>
          </a:stretch>
        </p:blipFill>
        <p:spPr>
          <a:xfrm>
            <a:off x="2324198" y="1843432"/>
            <a:ext cx="7543603" cy="4483409"/>
          </a:xfrm>
        </p:spPr>
      </p:pic>
    </p:spTree>
    <p:extLst>
      <p:ext uri="{BB962C8B-B14F-4D97-AF65-F5344CB8AC3E}">
        <p14:creationId xmlns:p14="http://schemas.microsoft.com/office/powerpoint/2010/main" val="10851022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A50AF08-DFEF-BBFF-A8CC-58D276074F6F}"/>
              </a:ext>
            </a:extLst>
          </p:cNvPr>
          <p:cNvSpPr/>
          <p:nvPr/>
        </p:nvSpPr>
        <p:spPr>
          <a:xfrm>
            <a:off x="0" y="2321004"/>
            <a:ext cx="12192000" cy="2215991"/>
          </a:xfrm>
          <a:prstGeom prst="rect">
            <a:avLst/>
          </a:prstGeom>
          <a:noFill/>
        </p:spPr>
        <p:txBody>
          <a:bodyPr wrap="square" lIns="91440" tIns="45720" rIns="91440" bIns="45720">
            <a:spAutoFit/>
          </a:bodyPr>
          <a:lstStyle/>
          <a:p>
            <a:pPr algn="ctr"/>
            <a:r>
              <a:rPr lang="en-US" sz="138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SCREENSHOTS</a:t>
            </a:r>
          </a:p>
        </p:txBody>
      </p:sp>
    </p:spTree>
    <p:extLst>
      <p:ext uri="{BB962C8B-B14F-4D97-AF65-F5344CB8AC3E}">
        <p14:creationId xmlns:p14="http://schemas.microsoft.com/office/powerpoint/2010/main" val="24813741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73B67-31B5-B126-B7B8-64B8B12C2A62}"/>
              </a:ext>
            </a:extLst>
          </p:cNvPr>
          <p:cNvSpPr>
            <a:spLocks noGrp="1"/>
          </p:cNvSpPr>
          <p:nvPr>
            <p:ph type="title"/>
          </p:nvPr>
        </p:nvSpPr>
        <p:spPr/>
        <p:txBody>
          <a:bodyPr/>
          <a:lstStyle/>
          <a:p>
            <a:r>
              <a:rPr lang="en-US" dirty="0"/>
              <a:t>DIABETES</a:t>
            </a:r>
            <a:endParaRPr lang="en-IN" dirty="0"/>
          </a:p>
        </p:txBody>
      </p:sp>
      <p:pic>
        <p:nvPicPr>
          <p:cNvPr id="5" name="Content Placeholder 4">
            <a:extLst>
              <a:ext uri="{FF2B5EF4-FFF2-40B4-BE49-F238E27FC236}">
                <a16:creationId xmlns:a16="http://schemas.microsoft.com/office/drawing/2014/main" id="{E3D99D48-339C-7E62-71B3-C0CAEA83D1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38231" y="1690690"/>
            <a:ext cx="8315537" cy="5197211"/>
          </a:xfrm>
        </p:spPr>
      </p:pic>
    </p:spTree>
    <p:extLst>
      <p:ext uri="{BB962C8B-B14F-4D97-AF65-F5344CB8AC3E}">
        <p14:creationId xmlns:p14="http://schemas.microsoft.com/office/powerpoint/2010/main" val="4384959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6B69-D0CA-E7EE-E669-E71FB67FF0C1}"/>
              </a:ext>
            </a:extLst>
          </p:cNvPr>
          <p:cNvSpPr>
            <a:spLocks noGrp="1"/>
          </p:cNvSpPr>
          <p:nvPr>
            <p:ph type="title"/>
          </p:nvPr>
        </p:nvSpPr>
        <p:spPr/>
        <p:txBody>
          <a:bodyPr/>
          <a:lstStyle/>
          <a:p>
            <a:r>
              <a:rPr lang="en-US" dirty="0"/>
              <a:t>DIABETES</a:t>
            </a:r>
            <a:endParaRPr lang="en-IN" dirty="0"/>
          </a:p>
        </p:txBody>
      </p:sp>
      <p:sp>
        <p:nvSpPr>
          <p:cNvPr id="3" name="Content Placeholder 2">
            <a:extLst>
              <a:ext uri="{FF2B5EF4-FFF2-40B4-BE49-F238E27FC236}">
                <a16:creationId xmlns:a16="http://schemas.microsoft.com/office/drawing/2014/main" id="{3EDFDF9E-FD9F-CB5E-B3F2-E034185ABFA0}"/>
              </a:ext>
            </a:extLst>
          </p:cNvPr>
          <p:cNvSpPr>
            <a:spLocks noGrp="1"/>
          </p:cNvSpPr>
          <p:nvPr>
            <p:ph idx="1"/>
          </p:nvPr>
        </p:nvSpPr>
        <p:spPr/>
        <p:txBody>
          <a:bodyPr/>
          <a:lstStyle/>
          <a:p>
            <a:r>
              <a:rPr lang="en-US" dirty="0"/>
              <a:t>INPUT</a:t>
            </a:r>
            <a:endParaRPr lang="en-IN" dirty="0"/>
          </a:p>
        </p:txBody>
      </p:sp>
      <p:pic>
        <p:nvPicPr>
          <p:cNvPr id="9" name="Picture 8">
            <a:extLst>
              <a:ext uri="{FF2B5EF4-FFF2-40B4-BE49-F238E27FC236}">
                <a16:creationId xmlns:a16="http://schemas.microsoft.com/office/drawing/2014/main" id="{DC3FF271-5706-49B6-31E9-123A44F0E4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40400" y="0"/>
            <a:ext cx="6451599" cy="4032249"/>
          </a:xfrm>
          <a:prstGeom prst="rect">
            <a:avLst/>
          </a:prstGeom>
        </p:spPr>
      </p:pic>
      <p:pic>
        <p:nvPicPr>
          <p:cNvPr id="7" name="Picture 6">
            <a:extLst>
              <a:ext uri="{FF2B5EF4-FFF2-40B4-BE49-F238E27FC236}">
                <a16:creationId xmlns:a16="http://schemas.microsoft.com/office/drawing/2014/main" id="{E5D91A3F-A5BC-CE83-5BA7-71FEE752CF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492374"/>
            <a:ext cx="6985000" cy="4365625"/>
          </a:xfrm>
          <a:prstGeom prst="rect">
            <a:avLst/>
          </a:prstGeom>
        </p:spPr>
      </p:pic>
    </p:spTree>
    <p:extLst>
      <p:ext uri="{BB962C8B-B14F-4D97-AF65-F5344CB8AC3E}">
        <p14:creationId xmlns:p14="http://schemas.microsoft.com/office/powerpoint/2010/main" val="9696413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E4E2F-C75C-E0FA-C1DF-A43FE0D0DF94}"/>
              </a:ext>
            </a:extLst>
          </p:cNvPr>
          <p:cNvSpPr>
            <a:spLocks noGrp="1"/>
          </p:cNvSpPr>
          <p:nvPr>
            <p:ph type="title"/>
          </p:nvPr>
        </p:nvSpPr>
        <p:spPr/>
        <p:txBody>
          <a:bodyPr/>
          <a:lstStyle/>
          <a:p>
            <a:r>
              <a:rPr lang="en-US" dirty="0"/>
              <a:t>DIABETES</a:t>
            </a:r>
            <a:endParaRPr lang="en-IN" dirty="0"/>
          </a:p>
        </p:txBody>
      </p:sp>
      <p:sp>
        <p:nvSpPr>
          <p:cNvPr id="3" name="Content Placeholder 2">
            <a:extLst>
              <a:ext uri="{FF2B5EF4-FFF2-40B4-BE49-F238E27FC236}">
                <a16:creationId xmlns:a16="http://schemas.microsoft.com/office/drawing/2014/main" id="{AAFEB2FF-E567-EEC1-5668-C6A0E8AA4758}"/>
              </a:ext>
            </a:extLst>
          </p:cNvPr>
          <p:cNvSpPr>
            <a:spLocks noGrp="1"/>
          </p:cNvSpPr>
          <p:nvPr>
            <p:ph idx="1"/>
          </p:nvPr>
        </p:nvSpPr>
        <p:spPr/>
        <p:txBody>
          <a:bodyPr/>
          <a:lstStyle/>
          <a:p>
            <a:r>
              <a:rPr lang="en-US" dirty="0"/>
              <a:t>OUTPUT</a:t>
            </a:r>
            <a:endParaRPr lang="en-IN" dirty="0"/>
          </a:p>
        </p:txBody>
      </p:sp>
      <p:pic>
        <p:nvPicPr>
          <p:cNvPr id="11" name="Picture 10">
            <a:extLst>
              <a:ext uri="{FF2B5EF4-FFF2-40B4-BE49-F238E27FC236}">
                <a16:creationId xmlns:a16="http://schemas.microsoft.com/office/drawing/2014/main" id="{DEAF0577-4FF1-B7B3-3A7B-582C5EEECF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1132" y="1201208"/>
            <a:ext cx="9050867" cy="5656792"/>
          </a:xfrm>
          <a:prstGeom prst="rect">
            <a:avLst/>
          </a:prstGeom>
        </p:spPr>
      </p:pic>
    </p:spTree>
    <p:extLst>
      <p:ext uri="{BB962C8B-B14F-4D97-AF65-F5344CB8AC3E}">
        <p14:creationId xmlns:p14="http://schemas.microsoft.com/office/powerpoint/2010/main" val="3794462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B2D23-A103-8B5D-1301-111A08746251}"/>
              </a:ext>
            </a:extLst>
          </p:cNvPr>
          <p:cNvSpPr>
            <a:spLocks noGrp="1"/>
          </p:cNvSpPr>
          <p:nvPr>
            <p:ph type="title"/>
          </p:nvPr>
        </p:nvSpPr>
        <p:spPr/>
        <p:txBody>
          <a:bodyPr/>
          <a:lstStyle/>
          <a:p>
            <a:r>
              <a:rPr lang="en-US" dirty="0"/>
              <a:t>HEART DISEASE</a:t>
            </a:r>
            <a:endParaRPr lang="en-IN" dirty="0"/>
          </a:p>
        </p:txBody>
      </p:sp>
      <p:pic>
        <p:nvPicPr>
          <p:cNvPr id="13" name="Picture 12">
            <a:extLst>
              <a:ext uri="{FF2B5EF4-FFF2-40B4-BE49-F238E27FC236}">
                <a16:creationId xmlns:a16="http://schemas.microsoft.com/office/drawing/2014/main" id="{0C8FA40B-9D7F-8981-7D2F-3746765254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8160" y="1473200"/>
            <a:ext cx="8615680" cy="5384800"/>
          </a:xfrm>
          <a:prstGeom prst="rect">
            <a:avLst/>
          </a:prstGeom>
        </p:spPr>
      </p:pic>
    </p:spTree>
    <p:extLst>
      <p:ext uri="{BB962C8B-B14F-4D97-AF65-F5344CB8AC3E}">
        <p14:creationId xmlns:p14="http://schemas.microsoft.com/office/powerpoint/2010/main" val="8054319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28EBC-A35F-97F0-664B-0B3460A5C64B}"/>
              </a:ext>
            </a:extLst>
          </p:cNvPr>
          <p:cNvSpPr>
            <a:spLocks noGrp="1"/>
          </p:cNvSpPr>
          <p:nvPr>
            <p:ph type="title"/>
          </p:nvPr>
        </p:nvSpPr>
        <p:spPr/>
        <p:txBody>
          <a:bodyPr/>
          <a:lstStyle/>
          <a:p>
            <a:r>
              <a:rPr lang="en-US" dirty="0"/>
              <a:t>HEART DISEASE</a:t>
            </a:r>
            <a:endParaRPr lang="en-IN" dirty="0"/>
          </a:p>
        </p:txBody>
      </p:sp>
      <p:sp>
        <p:nvSpPr>
          <p:cNvPr id="3" name="Content Placeholder 2">
            <a:extLst>
              <a:ext uri="{FF2B5EF4-FFF2-40B4-BE49-F238E27FC236}">
                <a16:creationId xmlns:a16="http://schemas.microsoft.com/office/drawing/2014/main" id="{1CBC65F8-01D2-2B24-F1EB-6C0830B7DEF4}"/>
              </a:ext>
            </a:extLst>
          </p:cNvPr>
          <p:cNvSpPr>
            <a:spLocks noGrp="1"/>
          </p:cNvSpPr>
          <p:nvPr>
            <p:ph idx="1"/>
          </p:nvPr>
        </p:nvSpPr>
        <p:spPr/>
        <p:txBody>
          <a:bodyPr/>
          <a:lstStyle/>
          <a:p>
            <a:r>
              <a:rPr lang="en-US" dirty="0"/>
              <a:t>INPUT</a:t>
            </a:r>
            <a:endParaRPr lang="en-IN" dirty="0"/>
          </a:p>
        </p:txBody>
      </p:sp>
      <p:pic>
        <p:nvPicPr>
          <p:cNvPr id="17" name="Picture 16">
            <a:extLst>
              <a:ext uri="{FF2B5EF4-FFF2-40B4-BE49-F238E27FC236}">
                <a16:creationId xmlns:a16="http://schemas.microsoft.com/office/drawing/2014/main" id="{D91B9058-9EDD-1DDC-8BF6-4FAA0312AA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6691" y="59267"/>
            <a:ext cx="6475309" cy="4047068"/>
          </a:xfrm>
          <a:prstGeom prst="rect">
            <a:avLst/>
          </a:prstGeom>
        </p:spPr>
      </p:pic>
      <p:pic>
        <p:nvPicPr>
          <p:cNvPr id="15" name="Picture 14">
            <a:extLst>
              <a:ext uri="{FF2B5EF4-FFF2-40B4-BE49-F238E27FC236}">
                <a16:creationId xmlns:a16="http://schemas.microsoft.com/office/drawing/2014/main" id="{A44803EC-F051-A3FB-3FD5-23E7249135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518832"/>
            <a:ext cx="6942667" cy="4339167"/>
          </a:xfrm>
          <a:prstGeom prst="rect">
            <a:avLst/>
          </a:prstGeom>
        </p:spPr>
      </p:pic>
    </p:spTree>
    <p:extLst>
      <p:ext uri="{BB962C8B-B14F-4D97-AF65-F5344CB8AC3E}">
        <p14:creationId xmlns:p14="http://schemas.microsoft.com/office/powerpoint/2010/main" val="15600693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5D3C3-BBB7-58A8-95EE-77060EA978CA}"/>
              </a:ext>
            </a:extLst>
          </p:cNvPr>
          <p:cNvSpPr>
            <a:spLocks noGrp="1"/>
          </p:cNvSpPr>
          <p:nvPr>
            <p:ph type="title"/>
          </p:nvPr>
        </p:nvSpPr>
        <p:spPr>
          <a:xfrm>
            <a:off x="838200" y="297391"/>
            <a:ext cx="10515600" cy="1325563"/>
          </a:xfrm>
        </p:spPr>
        <p:txBody>
          <a:bodyPr/>
          <a:lstStyle/>
          <a:p>
            <a:r>
              <a:rPr lang="en-US" dirty="0"/>
              <a:t>HEART DISEASE</a:t>
            </a:r>
            <a:endParaRPr lang="en-IN" dirty="0"/>
          </a:p>
        </p:txBody>
      </p:sp>
      <p:sp>
        <p:nvSpPr>
          <p:cNvPr id="3" name="Content Placeholder 2">
            <a:extLst>
              <a:ext uri="{FF2B5EF4-FFF2-40B4-BE49-F238E27FC236}">
                <a16:creationId xmlns:a16="http://schemas.microsoft.com/office/drawing/2014/main" id="{2CD88EBA-83B2-5DE4-DF2B-AE916F7B3A9B}"/>
              </a:ext>
            </a:extLst>
          </p:cNvPr>
          <p:cNvSpPr>
            <a:spLocks noGrp="1"/>
          </p:cNvSpPr>
          <p:nvPr>
            <p:ph idx="1"/>
          </p:nvPr>
        </p:nvSpPr>
        <p:spPr/>
        <p:txBody>
          <a:bodyPr/>
          <a:lstStyle/>
          <a:p>
            <a:r>
              <a:rPr lang="en-US" dirty="0"/>
              <a:t>INPUT</a:t>
            </a:r>
            <a:endParaRPr lang="en-IN" dirty="0"/>
          </a:p>
        </p:txBody>
      </p:sp>
      <p:pic>
        <p:nvPicPr>
          <p:cNvPr id="19" name="Picture 18">
            <a:extLst>
              <a:ext uri="{FF2B5EF4-FFF2-40B4-BE49-F238E27FC236}">
                <a16:creationId xmlns:a16="http://schemas.microsoft.com/office/drawing/2014/main" id="{29BFF65D-ABBE-8A6E-8E73-253AAC9DD8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1201" y="1270001"/>
            <a:ext cx="8940800" cy="5588000"/>
          </a:xfrm>
          <a:prstGeom prst="rect">
            <a:avLst/>
          </a:prstGeom>
        </p:spPr>
      </p:pic>
    </p:spTree>
    <p:extLst>
      <p:ext uri="{BB962C8B-B14F-4D97-AF65-F5344CB8AC3E}">
        <p14:creationId xmlns:p14="http://schemas.microsoft.com/office/powerpoint/2010/main" val="21205082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49B95-843E-6606-7669-6900F6F8A405}"/>
              </a:ext>
            </a:extLst>
          </p:cNvPr>
          <p:cNvSpPr>
            <a:spLocks noGrp="1"/>
          </p:cNvSpPr>
          <p:nvPr>
            <p:ph type="title"/>
          </p:nvPr>
        </p:nvSpPr>
        <p:spPr/>
        <p:txBody>
          <a:bodyPr/>
          <a:lstStyle/>
          <a:p>
            <a:r>
              <a:rPr lang="en-US" dirty="0"/>
              <a:t>HEART DISEASE</a:t>
            </a:r>
            <a:endParaRPr lang="en-IN" dirty="0"/>
          </a:p>
        </p:txBody>
      </p:sp>
      <p:sp>
        <p:nvSpPr>
          <p:cNvPr id="3" name="Content Placeholder 2">
            <a:extLst>
              <a:ext uri="{FF2B5EF4-FFF2-40B4-BE49-F238E27FC236}">
                <a16:creationId xmlns:a16="http://schemas.microsoft.com/office/drawing/2014/main" id="{3A45712A-F46C-E3A2-3390-72EACAFABC57}"/>
              </a:ext>
            </a:extLst>
          </p:cNvPr>
          <p:cNvSpPr>
            <a:spLocks noGrp="1"/>
          </p:cNvSpPr>
          <p:nvPr>
            <p:ph idx="1"/>
          </p:nvPr>
        </p:nvSpPr>
        <p:spPr/>
        <p:txBody>
          <a:bodyPr/>
          <a:lstStyle/>
          <a:p>
            <a:r>
              <a:rPr lang="en-US" dirty="0"/>
              <a:t>OUTPUT</a:t>
            </a:r>
            <a:endParaRPr lang="en-IN" dirty="0"/>
          </a:p>
        </p:txBody>
      </p:sp>
      <p:pic>
        <p:nvPicPr>
          <p:cNvPr id="21" name="Picture 20">
            <a:extLst>
              <a:ext uri="{FF2B5EF4-FFF2-40B4-BE49-F238E27FC236}">
                <a16:creationId xmlns:a16="http://schemas.microsoft.com/office/drawing/2014/main" id="{FE5FFB3F-09B6-3195-4A11-E8F3C31F92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7733" y="1480333"/>
            <a:ext cx="8604267" cy="5377667"/>
          </a:xfrm>
          <a:prstGeom prst="rect">
            <a:avLst/>
          </a:prstGeom>
        </p:spPr>
      </p:pic>
    </p:spTree>
    <p:extLst>
      <p:ext uri="{BB962C8B-B14F-4D97-AF65-F5344CB8AC3E}">
        <p14:creationId xmlns:p14="http://schemas.microsoft.com/office/powerpoint/2010/main" val="29722918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8AC51-129E-7919-6DAB-15169D642FC9}"/>
              </a:ext>
            </a:extLst>
          </p:cNvPr>
          <p:cNvSpPr>
            <a:spLocks noGrp="1"/>
          </p:cNvSpPr>
          <p:nvPr>
            <p:ph type="title"/>
          </p:nvPr>
        </p:nvSpPr>
        <p:spPr/>
        <p:txBody>
          <a:bodyPr/>
          <a:lstStyle/>
          <a:p>
            <a:r>
              <a:rPr lang="en-US" dirty="0"/>
              <a:t>BREAST CANCER</a:t>
            </a:r>
            <a:endParaRPr lang="en-IN" dirty="0"/>
          </a:p>
        </p:txBody>
      </p:sp>
      <p:pic>
        <p:nvPicPr>
          <p:cNvPr id="5" name="Content Placeholder 4">
            <a:extLst>
              <a:ext uri="{FF2B5EF4-FFF2-40B4-BE49-F238E27FC236}">
                <a16:creationId xmlns:a16="http://schemas.microsoft.com/office/drawing/2014/main" id="{CC5520A7-C81D-04E3-DC3A-AEDD7A0BE9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4930" y="1825625"/>
            <a:ext cx="6962140" cy="4351338"/>
          </a:xfrm>
        </p:spPr>
      </p:pic>
    </p:spTree>
    <p:extLst>
      <p:ext uri="{BB962C8B-B14F-4D97-AF65-F5344CB8AC3E}">
        <p14:creationId xmlns:p14="http://schemas.microsoft.com/office/powerpoint/2010/main" val="24255420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0ED60-8856-B8D0-B954-702F9F103AE8}"/>
              </a:ext>
            </a:extLst>
          </p:cNvPr>
          <p:cNvSpPr>
            <a:spLocks noGrp="1"/>
          </p:cNvSpPr>
          <p:nvPr>
            <p:ph type="title"/>
          </p:nvPr>
        </p:nvSpPr>
        <p:spPr/>
        <p:txBody>
          <a:bodyPr/>
          <a:lstStyle/>
          <a:p>
            <a:r>
              <a:rPr lang="en-US" dirty="0"/>
              <a:t>BREAST CANCER	</a:t>
            </a:r>
            <a:endParaRPr lang="en-IN" dirty="0"/>
          </a:p>
        </p:txBody>
      </p:sp>
      <p:pic>
        <p:nvPicPr>
          <p:cNvPr id="9" name="Picture 8">
            <a:extLst>
              <a:ext uri="{FF2B5EF4-FFF2-40B4-BE49-F238E27FC236}">
                <a16:creationId xmlns:a16="http://schemas.microsoft.com/office/drawing/2014/main" id="{7194711C-48B5-20E3-AB9C-AB482EFDA4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2852" y="-1"/>
            <a:ext cx="6719147" cy="4199467"/>
          </a:xfrm>
          <a:prstGeom prst="rect">
            <a:avLst/>
          </a:prstGeom>
        </p:spPr>
      </p:pic>
      <p:pic>
        <p:nvPicPr>
          <p:cNvPr id="7" name="Picture 6">
            <a:extLst>
              <a:ext uri="{FF2B5EF4-FFF2-40B4-BE49-F238E27FC236}">
                <a16:creationId xmlns:a16="http://schemas.microsoft.com/office/drawing/2014/main" id="{51DD02E9-ED92-E6B4-FF62-754530C8F0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2870200"/>
            <a:ext cx="6380478" cy="3987799"/>
          </a:xfrm>
          <a:prstGeom prst="rect">
            <a:avLst/>
          </a:prstGeom>
        </p:spPr>
      </p:pic>
      <p:sp>
        <p:nvSpPr>
          <p:cNvPr id="3" name="Content Placeholder 2">
            <a:extLst>
              <a:ext uri="{FF2B5EF4-FFF2-40B4-BE49-F238E27FC236}">
                <a16:creationId xmlns:a16="http://schemas.microsoft.com/office/drawing/2014/main" id="{D75D5276-774F-96D5-2E2B-B7E6BB8B6414}"/>
              </a:ext>
            </a:extLst>
          </p:cNvPr>
          <p:cNvSpPr>
            <a:spLocks noGrp="1"/>
          </p:cNvSpPr>
          <p:nvPr>
            <p:ph idx="1"/>
          </p:nvPr>
        </p:nvSpPr>
        <p:spPr/>
        <p:txBody>
          <a:bodyPr/>
          <a:lstStyle/>
          <a:p>
            <a:r>
              <a:rPr lang="en-US" dirty="0"/>
              <a:t>INPUT</a:t>
            </a:r>
            <a:endParaRPr lang="en-IN" dirty="0"/>
          </a:p>
        </p:txBody>
      </p:sp>
    </p:spTree>
    <p:extLst>
      <p:ext uri="{BB962C8B-B14F-4D97-AF65-F5344CB8AC3E}">
        <p14:creationId xmlns:p14="http://schemas.microsoft.com/office/powerpoint/2010/main" val="768458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1B088-2A05-4CE8-0985-C5902ABA6C14}"/>
              </a:ext>
            </a:extLst>
          </p:cNvPr>
          <p:cNvSpPr>
            <a:spLocks noGrp="1"/>
          </p:cNvSpPr>
          <p:nvPr>
            <p:ph type="title"/>
          </p:nvPr>
        </p:nvSpPr>
        <p:spPr/>
        <p:txBody>
          <a:bodyPr/>
          <a:lstStyle/>
          <a:p>
            <a:r>
              <a:rPr lang="en-US" dirty="0"/>
              <a:t>BREAST CANCER	</a:t>
            </a:r>
            <a:endParaRPr lang="en-IN" dirty="0"/>
          </a:p>
        </p:txBody>
      </p:sp>
      <p:sp>
        <p:nvSpPr>
          <p:cNvPr id="3" name="Content Placeholder 2">
            <a:extLst>
              <a:ext uri="{FF2B5EF4-FFF2-40B4-BE49-F238E27FC236}">
                <a16:creationId xmlns:a16="http://schemas.microsoft.com/office/drawing/2014/main" id="{15202714-9267-DF4A-8C81-741866654443}"/>
              </a:ext>
            </a:extLst>
          </p:cNvPr>
          <p:cNvSpPr>
            <a:spLocks noGrp="1"/>
          </p:cNvSpPr>
          <p:nvPr>
            <p:ph idx="1"/>
          </p:nvPr>
        </p:nvSpPr>
        <p:spPr/>
        <p:txBody>
          <a:bodyPr/>
          <a:lstStyle/>
          <a:p>
            <a:r>
              <a:rPr lang="en-US" dirty="0"/>
              <a:t>OUTPUT</a:t>
            </a:r>
            <a:endParaRPr lang="en-IN" dirty="0"/>
          </a:p>
        </p:txBody>
      </p:sp>
      <p:pic>
        <p:nvPicPr>
          <p:cNvPr id="11" name="Picture 10">
            <a:extLst>
              <a:ext uri="{FF2B5EF4-FFF2-40B4-BE49-F238E27FC236}">
                <a16:creationId xmlns:a16="http://schemas.microsoft.com/office/drawing/2014/main" id="{ECA866DF-9E06-B81A-39CB-EEEADE79DE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2067" y="1370541"/>
            <a:ext cx="8779933" cy="5487459"/>
          </a:xfrm>
          <a:prstGeom prst="rect">
            <a:avLst/>
          </a:prstGeom>
        </p:spPr>
      </p:pic>
    </p:spTree>
    <p:extLst>
      <p:ext uri="{BB962C8B-B14F-4D97-AF65-F5344CB8AC3E}">
        <p14:creationId xmlns:p14="http://schemas.microsoft.com/office/powerpoint/2010/main" val="5135556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E6BD2-882F-8B39-CA95-3C603DA5089C}"/>
              </a:ext>
            </a:extLst>
          </p:cNvPr>
          <p:cNvSpPr>
            <a:spLocks noGrp="1"/>
          </p:cNvSpPr>
          <p:nvPr>
            <p:ph type="title"/>
          </p:nvPr>
        </p:nvSpPr>
        <p:spPr/>
        <p:txBody>
          <a:bodyPr/>
          <a:lstStyle/>
          <a:p>
            <a:r>
              <a:rPr lang="en-US" dirty="0"/>
              <a:t>PARKINSON’S DISEASE</a:t>
            </a:r>
            <a:endParaRPr lang="en-IN" dirty="0"/>
          </a:p>
        </p:txBody>
      </p:sp>
      <p:pic>
        <p:nvPicPr>
          <p:cNvPr id="31" name="Picture 30">
            <a:extLst>
              <a:ext uri="{FF2B5EF4-FFF2-40B4-BE49-F238E27FC236}">
                <a16:creationId xmlns:a16="http://schemas.microsoft.com/office/drawing/2014/main" id="{39BBD8FB-FDEB-567C-BEE2-C2BEC30EA6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7526" y="1825625"/>
            <a:ext cx="7936948" cy="4960593"/>
          </a:xfrm>
          <a:prstGeom prst="rect">
            <a:avLst/>
          </a:prstGeom>
        </p:spPr>
      </p:pic>
    </p:spTree>
    <p:extLst>
      <p:ext uri="{BB962C8B-B14F-4D97-AF65-F5344CB8AC3E}">
        <p14:creationId xmlns:p14="http://schemas.microsoft.com/office/powerpoint/2010/main" val="38215838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5CBEC-D7D1-3DD4-E079-50A73CC71127}"/>
              </a:ext>
            </a:extLst>
          </p:cNvPr>
          <p:cNvSpPr>
            <a:spLocks noGrp="1"/>
          </p:cNvSpPr>
          <p:nvPr>
            <p:ph type="title"/>
          </p:nvPr>
        </p:nvSpPr>
        <p:spPr/>
        <p:txBody>
          <a:bodyPr/>
          <a:lstStyle/>
          <a:p>
            <a:r>
              <a:rPr lang="en-US" dirty="0"/>
              <a:t>PARKINSON’S DISEASE</a:t>
            </a:r>
            <a:endParaRPr lang="en-IN" dirty="0"/>
          </a:p>
        </p:txBody>
      </p:sp>
      <p:sp>
        <p:nvSpPr>
          <p:cNvPr id="3" name="Content Placeholder 2">
            <a:extLst>
              <a:ext uri="{FF2B5EF4-FFF2-40B4-BE49-F238E27FC236}">
                <a16:creationId xmlns:a16="http://schemas.microsoft.com/office/drawing/2014/main" id="{FEF3D5C4-0701-3E24-6015-10BF891E9503}"/>
              </a:ext>
            </a:extLst>
          </p:cNvPr>
          <p:cNvSpPr>
            <a:spLocks noGrp="1"/>
          </p:cNvSpPr>
          <p:nvPr>
            <p:ph idx="1"/>
          </p:nvPr>
        </p:nvSpPr>
        <p:spPr/>
        <p:txBody>
          <a:bodyPr/>
          <a:lstStyle/>
          <a:p>
            <a:r>
              <a:rPr lang="en-US" dirty="0"/>
              <a:t>INPUTS</a:t>
            </a:r>
            <a:endParaRPr lang="en-IN" dirty="0"/>
          </a:p>
        </p:txBody>
      </p:sp>
      <p:pic>
        <p:nvPicPr>
          <p:cNvPr id="35" name="Picture 34">
            <a:extLst>
              <a:ext uri="{FF2B5EF4-FFF2-40B4-BE49-F238E27FC236}">
                <a16:creationId xmlns:a16="http://schemas.microsoft.com/office/drawing/2014/main" id="{E118A585-490D-71C4-9701-9F43E82A53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48001"/>
            <a:ext cx="6096000" cy="3810000"/>
          </a:xfrm>
          <a:prstGeom prst="rect">
            <a:avLst/>
          </a:prstGeom>
        </p:spPr>
      </p:pic>
      <p:pic>
        <p:nvPicPr>
          <p:cNvPr id="37" name="Picture 36">
            <a:extLst>
              <a:ext uri="{FF2B5EF4-FFF2-40B4-BE49-F238E27FC236}">
                <a16:creationId xmlns:a16="http://schemas.microsoft.com/office/drawing/2014/main" id="{1555682D-98C5-C1B4-5FBE-AC127FC523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3465" y="1457583"/>
            <a:ext cx="6308535" cy="3942834"/>
          </a:xfrm>
          <a:prstGeom prst="rect">
            <a:avLst/>
          </a:prstGeom>
        </p:spPr>
      </p:pic>
    </p:spTree>
    <p:extLst>
      <p:ext uri="{BB962C8B-B14F-4D97-AF65-F5344CB8AC3E}">
        <p14:creationId xmlns:p14="http://schemas.microsoft.com/office/powerpoint/2010/main" val="10846388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63CBF-1FAE-F907-C9D9-32F61C8900DD}"/>
              </a:ext>
            </a:extLst>
          </p:cNvPr>
          <p:cNvSpPr>
            <a:spLocks noGrp="1"/>
          </p:cNvSpPr>
          <p:nvPr>
            <p:ph type="title"/>
          </p:nvPr>
        </p:nvSpPr>
        <p:spPr/>
        <p:txBody>
          <a:bodyPr/>
          <a:lstStyle/>
          <a:p>
            <a:r>
              <a:rPr lang="en-US" dirty="0"/>
              <a:t>PARKINSON’S DISEASE</a:t>
            </a:r>
            <a:endParaRPr lang="en-IN" dirty="0"/>
          </a:p>
        </p:txBody>
      </p:sp>
      <p:sp>
        <p:nvSpPr>
          <p:cNvPr id="3" name="Content Placeholder 2">
            <a:extLst>
              <a:ext uri="{FF2B5EF4-FFF2-40B4-BE49-F238E27FC236}">
                <a16:creationId xmlns:a16="http://schemas.microsoft.com/office/drawing/2014/main" id="{2CB4DC9F-A3B1-C0C7-E2E8-D19B61D301E3}"/>
              </a:ext>
            </a:extLst>
          </p:cNvPr>
          <p:cNvSpPr>
            <a:spLocks noGrp="1"/>
          </p:cNvSpPr>
          <p:nvPr>
            <p:ph idx="1"/>
          </p:nvPr>
        </p:nvSpPr>
        <p:spPr/>
        <p:txBody>
          <a:bodyPr/>
          <a:lstStyle/>
          <a:p>
            <a:endParaRPr lang="en-IN"/>
          </a:p>
        </p:txBody>
      </p:sp>
      <p:pic>
        <p:nvPicPr>
          <p:cNvPr id="39" name="Picture 38">
            <a:extLst>
              <a:ext uri="{FF2B5EF4-FFF2-40B4-BE49-F238E27FC236}">
                <a16:creationId xmlns:a16="http://schemas.microsoft.com/office/drawing/2014/main" id="{B17FF171-BFE4-EF37-13CF-A04A7F94B2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690690"/>
            <a:ext cx="6172200" cy="3857625"/>
          </a:xfrm>
          <a:prstGeom prst="rect">
            <a:avLst/>
          </a:prstGeom>
        </p:spPr>
      </p:pic>
      <p:pic>
        <p:nvPicPr>
          <p:cNvPr id="41" name="Picture 40">
            <a:extLst>
              <a:ext uri="{FF2B5EF4-FFF2-40B4-BE49-F238E27FC236}">
                <a16:creationId xmlns:a16="http://schemas.microsoft.com/office/drawing/2014/main" id="{3866AB9F-3758-156C-FD71-258F66A131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9088" y="2943680"/>
            <a:ext cx="6262912" cy="3914320"/>
          </a:xfrm>
          <a:prstGeom prst="rect">
            <a:avLst/>
          </a:prstGeom>
        </p:spPr>
      </p:pic>
    </p:spTree>
    <p:extLst>
      <p:ext uri="{BB962C8B-B14F-4D97-AF65-F5344CB8AC3E}">
        <p14:creationId xmlns:p14="http://schemas.microsoft.com/office/powerpoint/2010/main" val="10684667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5562B-DCB2-FCCE-9E97-9DE10CEEBD8A}"/>
              </a:ext>
            </a:extLst>
          </p:cNvPr>
          <p:cNvSpPr>
            <a:spLocks noGrp="1"/>
          </p:cNvSpPr>
          <p:nvPr>
            <p:ph type="title"/>
          </p:nvPr>
        </p:nvSpPr>
        <p:spPr/>
        <p:txBody>
          <a:bodyPr/>
          <a:lstStyle/>
          <a:p>
            <a:r>
              <a:rPr lang="en-US" dirty="0"/>
              <a:t>PARKINSON’S DISEASE</a:t>
            </a:r>
            <a:endParaRPr lang="en-IN" dirty="0"/>
          </a:p>
        </p:txBody>
      </p:sp>
      <p:sp>
        <p:nvSpPr>
          <p:cNvPr id="3" name="Content Placeholder 2">
            <a:extLst>
              <a:ext uri="{FF2B5EF4-FFF2-40B4-BE49-F238E27FC236}">
                <a16:creationId xmlns:a16="http://schemas.microsoft.com/office/drawing/2014/main" id="{139C95E6-925E-1DD0-07B6-EFE705DEF46C}"/>
              </a:ext>
            </a:extLst>
          </p:cNvPr>
          <p:cNvSpPr>
            <a:spLocks noGrp="1"/>
          </p:cNvSpPr>
          <p:nvPr>
            <p:ph idx="1"/>
          </p:nvPr>
        </p:nvSpPr>
        <p:spPr/>
        <p:txBody>
          <a:bodyPr/>
          <a:lstStyle/>
          <a:p>
            <a:r>
              <a:rPr lang="en-US" dirty="0"/>
              <a:t>OUTPUT</a:t>
            </a:r>
            <a:endParaRPr lang="en-IN" dirty="0"/>
          </a:p>
        </p:txBody>
      </p:sp>
      <p:pic>
        <p:nvPicPr>
          <p:cNvPr id="43" name="Picture 42">
            <a:extLst>
              <a:ext uri="{FF2B5EF4-FFF2-40B4-BE49-F238E27FC236}">
                <a16:creationId xmlns:a16="http://schemas.microsoft.com/office/drawing/2014/main" id="{4B61BD86-5474-AE31-AD49-0659275B5E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3800" y="2198687"/>
            <a:ext cx="7454900" cy="4659313"/>
          </a:xfrm>
          <a:prstGeom prst="rect">
            <a:avLst/>
          </a:prstGeom>
        </p:spPr>
      </p:pic>
    </p:spTree>
    <p:extLst>
      <p:ext uri="{BB962C8B-B14F-4D97-AF65-F5344CB8AC3E}">
        <p14:creationId xmlns:p14="http://schemas.microsoft.com/office/powerpoint/2010/main" val="42599073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FACB8-114D-8B4E-9CE8-02520081ACB8}"/>
              </a:ext>
            </a:extLst>
          </p:cNvPr>
          <p:cNvSpPr>
            <a:spLocks noGrp="1"/>
          </p:cNvSpPr>
          <p:nvPr>
            <p:ph type="title"/>
          </p:nvPr>
        </p:nvSpPr>
        <p:spPr/>
        <p:txBody>
          <a:bodyPr/>
          <a:lstStyle/>
          <a:p>
            <a:r>
              <a:rPr lang="en-US" b="1" dirty="0"/>
              <a:t>FUTURE IMPROVEMENTS</a:t>
            </a:r>
            <a:endParaRPr lang="en-IN" b="1" dirty="0"/>
          </a:p>
        </p:txBody>
      </p:sp>
      <p:sp>
        <p:nvSpPr>
          <p:cNvPr id="3" name="Content Placeholder 2">
            <a:extLst>
              <a:ext uri="{FF2B5EF4-FFF2-40B4-BE49-F238E27FC236}">
                <a16:creationId xmlns:a16="http://schemas.microsoft.com/office/drawing/2014/main" id="{7188F7A8-93CA-CA72-87B3-F4A4944696AA}"/>
              </a:ext>
            </a:extLst>
          </p:cNvPr>
          <p:cNvSpPr>
            <a:spLocks noGrp="1"/>
          </p:cNvSpPr>
          <p:nvPr>
            <p:ph idx="1"/>
          </p:nvPr>
        </p:nvSpPr>
        <p:spPr>
          <a:xfrm>
            <a:off x="838200" y="1825624"/>
            <a:ext cx="10515600" cy="4885619"/>
          </a:xfrm>
        </p:spPr>
        <p:txBody>
          <a:bodyPr>
            <a:normAutofit fontScale="85000" lnSpcReduction="20000"/>
          </a:bodyPr>
          <a:lstStyle/>
          <a:p>
            <a:r>
              <a:rPr lang="en-US" dirty="0"/>
              <a:t>Any inaccuracy in the model is a result of model underfitting. So gathering a sufficient data, and retraining the model with sufficient and relevant dataset is very important for improving accuracy. </a:t>
            </a:r>
          </a:p>
          <a:p>
            <a:r>
              <a:rPr lang="en-US" dirty="0"/>
              <a:t>Identifying and focusing on diseases that are prevalent or of significant concern, while also considering the development of models for less common diseases.</a:t>
            </a:r>
          </a:p>
          <a:p>
            <a:r>
              <a:rPr lang="en-US" dirty="0"/>
              <a:t>Conducting a thorough analysis to identify the most relevant features for disease prediction. Implementing advanced feature selection and extraction techniques to enhance model performance.</a:t>
            </a:r>
          </a:p>
          <a:p>
            <a:r>
              <a:rPr lang="en-US" dirty="0"/>
              <a:t>Collaborating with medical professionals to ensure that the features used in the models are clinically relevant and contribute to accurate predictions.</a:t>
            </a:r>
          </a:p>
          <a:p>
            <a:r>
              <a:rPr lang="en-US" dirty="0"/>
              <a:t>Continuously benchmarking the performance of the models against existing ones to identify areas for improvement and ensure that the system offers better or competitive accuracy is necessary.</a:t>
            </a:r>
          </a:p>
          <a:p>
            <a:r>
              <a:rPr lang="en-US" dirty="0"/>
              <a:t>The accuracy scores of the models are either a little better or almost exactly equal to existing models. So, there is a scope for identifying relevant machine learning models for predicting a specific disease.</a:t>
            </a:r>
            <a:endParaRPr lang="en-IN" dirty="0"/>
          </a:p>
        </p:txBody>
      </p:sp>
    </p:spTree>
    <p:extLst>
      <p:ext uri="{BB962C8B-B14F-4D97-AF65-F5344CB8AC3E}">
        <p14:creationId xmlns:p14="http://schemas.microsoft.com/office/powerpoint/2010/main" val="25402996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F43-36C4-2951-29BD-A4596AB86B28}"/>
              </a:ext>
            </a:extLst>
          </p:cNvPr>
          <p:cNvSpPr>
            <a:spLocks noGrp="1"/>
          </p:cNvSpPr>
          <p:nvPr>
            <p:ph type="title"/>
          </p:nvPr>
        </p:nvSpPr>
        <p:spPr/>
        <p:txBody>
          <a:bodyPr>
            <a:normAutofit/>
          </a:bodyPr>
          <a:lstStyle/>
          <a:p>
            <a:r>
              <a:rPr lang="en-US" sz="4800" b="1" dirty="0"/>
              <a:t>CONCLUSION</a:t>
            </a:r>
            <a:endParaRPr lang="en-IN" sz="4800" b="1" dirty="0"/>
          </a:p>
        </p:txBody>
      </p:sp>
      <p:sp>
        <p:nvSpPr>
          <p:cNvPr id="3" name="Content Placeholder 2">
            <a:extLst>
              <a:ext uri="{FF2B5EF4-FFF2-40B4-BE49-F238E27FC236}">
                <a16:creationId xmlns:a16="http://schemas.microsoft.com/office/drawing/2014/main" id="{70CF742B-A661-A608-F21F-7FFFD9FE13C5}"/>
              </a:ext>
            </a:extLst>
          </p:cNvPr>
          <p:cNvSpPr>
            <a:spLocks noGrp="1"/>
          </p:cNvSpPr>
          <p:nvPr>
            <p:ph idx="1"/>
          </p:nvPr>
        </p:nvSpPr>
        <p:spPr>
          <a:xfrm>
            <a:off x="838200" y="1825625"/>
            <a:ext cx="10515600" cy="5095128"/>
          </a:xfrm>
        </p:spPr>
        <p:txBody>
          <a:bodyPr>
            <a:normAutofit fontScale="92500"/>
          </a:bodyPr>
          <a:lstStyle/>
          <a:p>
            <a:r>
              <a:rPr lang="en-US" sz="1600" dirty="0"/>
              <a:t>The main objective of this research was to create a system that could reliably forecast several illnesses. The user is spared from having to visit multiple websites. Early diagnosis of diseases can both lengthen your life and spare you from financial hardship.</a:t>
            </a:r>
          </a:p>
          <a:p>
            <a:r>
              <a:rPr lang="en-US" sz="1600" dirty="0"/>
              <a:t>To achieve the highest level of accuracy, a variety of machine learning algorithms are used. In this study, investigation of the use of machine learning methods for the prognosis of various illnesses, with an emphasis on breast cancer, heart disease, diabetes, and Parkinson’s disease. Using the machine learning model with highest accuracy with their respective disease, a framework is created for multiple disease prediction. To guarantee data quality, information has been gathered from Kaggle.com and preprocessed it.</a:t>
            </a:r>
          </a:p>
          <a:p>
            <a:r>
              <a:rPr lang="en-US" sz="1600" dirty="0"/>
              <a:t>SVM algorithm obtained almost 90% accuracy for Parkinson's disease prediction, and 77% accuracy for diabetes prediction. Similarly, we used Naïve Bayes to predict Heart disease with an 85% accuracy rate. An accuracy of 80% was obtained when Breast cancer was predicted using Random Forest Classifier.</a:t>
            </a:r>
          </a:p>
          <a:p>
            <a:r>
              <a:rPr lang="en-US" sz="1600" dirty="0"/>
              <a:t>The results of this study show how machine learning has the power to trans- form illness prediction and enhance patient outcomes. Various machine learning model’s implementation required handling and filtering. When a trained model is included into an application, it may forecast diseases in real- world situations, enabling researchers, healthcare providers, and individuals to make well-informed decisions about managing and assessing disease risk. Targeted illness management techniques, individualized treatment regimens, and early interventions may all be made easier with the help of machine learning models for accurate disease prediction. It can improve patient care, help healthcare providers make well-informed decisions, and optimize the distribution of re- sources within healthcare systems. It also has potential for population-level disease surveillance, which would allow for the early identification of disease outbreaks and the application of preventative measures.</a:t>
            </a:r>
          </a:p>
          <a:p>
            <a:r>
              <a:rPr lang="en-US" sz="1600" dirty="0"/>
              <a:t>In summary, this study highlights the potential of machine learning in multiple disease prediction and advances the field of disease prediction using machine learning. We can get closer to developing more precise, timely, and individualized healthcare interventions by utilizing machine learning, which will ultimately enhance patient outcomes and create more effective healthcare systems.</a:t>
            </a:r>
            <a:endParaRPr lang="en-IN" sz="1600" dirty="0"/>
          </a:p>
        </p:txBody>
      </p:sp>
    </p:spTree>
    <p:extLst>
      <p:ext uri="{BB962C8B-B14F-4D97-AF65-F5344CB8AC3E}">
        <p14:creationId xmlns:p14="http://schemas.microsoft.com/office/powerpoint/2010/main" val="37982343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929</TotalTime>
  <Words>3507</Words>
  <Application>Microsoft Office PowerPoint</Application>
  <PresentationFormat>Widescreen</PresentationFormat>
  <Paragraphs>174</Paragraphs>
  <Slides>42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Calibri Light</vt:lpstr>
      <vt:lpstr>Courier New</vt:lpstr>
      <vt:lpstr>Office Theme</vt:lpstr>
      <vt:lpstr>MULTIPLE DISEASE PREDICTION USING ML</vt:lpstr>
      <vt:lpstr>INTRODUCTION</vt:lpstr>
      <vt:lpstr>AIM</vt:lpstr>
      <vt:lpstr>AIM</vt:lpstr>
      <vt:lpstr>PREVIOUS WORKS</vt:lpstr>
      <vt:lpstr>METHODOLOGIES </vt:lpstr>
      <vt:lpstr>Existing System</vt:lpstr>
      <vt:lpstr>SCOPE OF IMPROVEMENT</vt:lpstr>
      <vt:lpstr>PROPOSED SYSTEM</vt:lpstr>
      <vt:lpstr>ADVANTAGES OF PROPOSED SYSTEM</vt:lpstr>
      <vt:lpstr>DFD</vt:lpstr>
      <vt:lpstr>DFD</vt:lpstr>
      <vt:lpstr>IMPLEMENTATION</vt:lpstr>
      <vt:lpstr>BREAST CANCER DATASET</vt:lpstr>
      <vt:lpstr>DIABETES DATASET</vt:lpstr>
      <vt:lpstr>HEART DISEASE DATASET</vt:lpstr>
      <vt:lpstr>PARKINSON’S DISEASE DATASET</vt:lpstr>
      <vt:lpstr>MODEL TRAINING </vt:lpstr>
      <vt:lpstr>ACCURACY SCORES OF THE MODELS</vt:lpstr>
      <vt:lpstr>PowerPoint Presentation</vt:lpstr>
      <vt:lpstr>PowerPoint Presentation</vt:lpstr>
      <vt:lpstr>SUMMURY</vt:lpstr>
      <vt:lpstr>FRONTEND</vt:lpstr>
      <vt:lpstr>BACKEND</vt:lpstr>
      <vt:lpstr>UML (Unified Modeling Language) DIAGRAM</vt:lpstr>
      <vt:lpstr>PowerPoint Presentation</vt:lpstr>
      <vt:lpstr>DIABETES</vt:lpstr>
      <vt:lpstr>DIABETES</vt:lpstr>
      <vt:lpstr>DIABETES</vt:lpstr>
      <vt:lpstr>HEART DISEASE</vt:lpstr>
      <vt:lpstr>HEART DISEASE</vt:lpstr>
      <vt:lpstr>HEART DISEASE</vt:lpstr>
      <vt:lpstr>HEART DISEASE</vt:lpstr>
      <vt:lpstr>BREAST CANCER</vt:lpstr>
      <vt:lpstr>BREAST CANCER </vt:lpstr>
      <vt:lpstr>BREAST CANCER </vt:lpstr>
      <vt:lpstr>PARKINSON’S DISEASE</vt:lpstr>
      <vt:lpstr>PARKINSON’S DISEASE</vt:lpstr>
      <vt:lpstr>PARKINSON’S DISEASE</vt:lpstr>
      <vt:lpstr>PARKINSON’S DISEASE</vt:lpstr>
      <vt:lpstr>FUTURE IMPROVEMENTS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shuvamgupta4444@outlook.com</dc:creator>
  <cp:lastModifiedBy>shuvamgupta4444@outlook.com</cp:lastModifiedBy>
  <cp:revision>7</cp:revision>
  <dcterms:created xsi:type="dcterms:W3CDTF">2024-08-09T14:37:11Z</dcterms:created>
  <dcterms:modified xsi:type="dcterms:W3CDTF">2024-08-14T07:57:19Z</dcterms:modified>
</cp:coreProperties>
</file>